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0:00–0:45 — WELCOME. Say: 'Thank you for being here. My name is Jessica Alvarez, and I am the owner and advocate at Southern Oak Financial and Wellness. In the next fifteen minutes I am going to show you exactly what we do, how we provide it, and what you will get — with every price up front. There are no surprises with us, and there is never any pressure.' Keep it warm and slow. This meeting is free.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0:45–2:00 — YOUR STORY. Say: 'I have worked with the special needs community for five years, and I have been a life insurance agent for four. But the real reason I do this is personal. When I was eleven, I was diagnosed with juvenile rheumatoid arthritis. I watched my parents struggle — with Social Security, with medication costs, with finding help. Nobody should have to figure that out alone, at the hardest time of their life. So I built Southern Oak to be the help my family needed back then.' Pause here. This is the heart of the whole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2:00–3:00 — THE FIVE WAYS. Walk each one with one sentence. SSA: 'We help you apply for SSI or SSDI — for your child, or for you.' Insurance: 'Protection that can help while you are living, and after you are gone.' Medication: 'A free check — many families pay less within the first month.' Credit: 'A budget that fits real life, and we fix what is wrong on your reports.' Transition: 'When a child turns eighteen, the rules change — we get families ready before the birthday, not after.'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3:00–4:15 — THE ROAD. Say: 'Everything starts with a free consultation, like this one. Before we meet, you fill out a short intake online. Then I review your whole picture myself — not a computer, me. And you get a results page, free, that is yours to keep even if we never work together again. From there, YOU choose how we help. Nothing starts until you say 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4:15–5:30 — THE REVIEW. Say: 'When I review your family, I look at six things.' Name each one and give a tiny example: a denial letter with a deadline nobody saw; a medicine that costs ninety dollars that could cost nine; a parent with no coverage at all; a young adult three months from eighteen with no papers started. Examples make families see their own life in the 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5:30–6:15 — THE RESULTS. Say: 'After our meeting, I send you your results page by email. It shows where you are, what you need, and your first steps in order — one, two, three. If I recommend something, the price is written right on the page. Take your time with it. Talk it over at home. It is yours to keep, free, no matter what you decide.'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6:15–8:15 — THE PACKAGE. This is the center of the presentation — slow down. Say: 'We have ONE package. Just one. I do not believe in levels and tiers for families. The Plan Package is three hundred ninety-nine dollars, one time. I build your whole plan in writing — what to do first, second, third — with every deadline on it. You pay half when you sign, and the second half only before I hand you your plan. Then we go through it together on Zoom, line by line, until your questions are answered. Planning firms charge almost three thousand dollars for this. Ours is built for families like yours — and priced so you can actually have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8:15–9:15 — THE FAMILY BUILD. Say: 'For a family, the plan looks at everything together — because everything is connected. Your child's benefits affect your budget. Your budget affects your credit. If something happens to you, everything stops — so protection is part of the same plan. Most families I meet are trying to fix five things at once and finishing none. Your plan gives you an order: this first, then this, then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9:15–10:15 — CHILD AND YOUNG ADULT BUILDS. Say: 'For a child, the plan is about being ready. Waiver lists can take years. Decision papers cannot be signed in a panic the week of a birthday. For a young adult, the plan is about real life: What comes in? What does rent, food, and rides really cost? And the filing itself — because at eighteen, Social Security looks at them as an adult, and the case is decided again under adult rules. We plan for that birthday starting at sixteen or seventeen, not after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10:15–11:15 — SSA FILING HELP. Be clear this is separate help, not a package. Say: 'If all you need is help filing, that is fifty dollars, paid in full. I give you the steps, YOU file it yourself — it is your case, your signature — and I am on Zoom guiding you, up to four hours, until the filing is done. If we need more time, it is ten dollars for every extra thirty minutes, and only for the time we use. And if Social Security says no — email me right away. Deadlines matter, and I will connect you with special needs attorneys who charge nothing up front.'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11:15–12:00 — CREDIT. Say: 'For credit, we start with the truth: a full analysis of your reports, in simple words — what is hurting you and why. That, with your first dispute prepared, is one hundred fifty dollars, paid in full. You sign your own letters — always. If you need more rounds after that, it is eighty-nine a month, cancel anytime. And we build your budget with it, because fixing credit without a budget is like mopping with the water running.'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12:00–12:45 — THE FREE STARTS. Say: 'Two things are always free to start. One: bring me your medication list. We check the discount programs and the maker programs for every single medicine — and if your medicine is on our assistance list, the forms are free. Two: the protection talk. We look at what your family would need if something happened to you. I never charge for that conversation — you pay nothing unless you approve a policy.'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12:45–13:15 — HELP IS INCLUDED. Say: 'When you choose filing help, my time comes with it — up to four hours of Zoom guidance while you file, because I guide and you file. If we ever need more time, it is ten dollars for every thirty minutes, and only for the time we actually use. You are never left alone with the forms.'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13:15–14:00 — PRICES. Say it plainly, all of it, and pause: 'Here is everything, on one slide. The consultation and your results are free. We have ONE package — the Plan Package, three ninety-nine, half and half. Everything else is separate help, only if you need it: filing help fifty with four hours of guidance included, credit analysis one fifty. Nothing is hidden, and nothing gets added later.'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14:00–14:45 — QUESTIONS. Open it up gently: 'Before we finish — questions. And let me ask you one: what worries you most right now? Whatever it is, that is probably where your plan starts.' Listen more than you talk in this part. If they are quiet, that is fine — do not fill the silence with selling.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14:45–15:00 — CLOSE. Say: 'Here is what happens next. I send your results page by email. You take your time — talk it over at home. When you are ready, email me, and we start together, step by step. Thank you for trusting me with your family's time today. No family should do this alone — and yours does not have to.' End on time. Fifteen minutes, as promised.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E4A24"/>
        </a:solidFill>
        <a:effectLst/>
      </p:bgPr>
    </p:bg>
    <p:spTree>
      <p:nvGrpSpPr>
        <p:cNvPr id="1" name=""/>
        <p:cNvGrpSpPr/>
        <p:nvPr/>
      </p:nvGrpSpPr>
      <p:grpSpPr/>
      <p:pic>
        <p:nvPicPr>
          <p:cNvPr id="2" name="Picture 1" descr="southern-oak-logo.png"/>
          <p:cNvPicPr>
            <a:picLocks noChangeAspect="1"/>
          </p:cNvPicPr>
          <p:nvPr/>
        </p:nvPicPr>
        <p:blipFill>
          <a:blip r:embed="rId2"/>
          <a:stretch>
            <a:fillRect/>
          </a:stretch>
        </p:blipFill>
        <p:spPr>
          <a:xfrm>
            <a:off x="4956048" y="502920"/>
            <a:ext cx="1575359" cy="1920240"/>
          </a:xfrm>
          <a:prstGeom prst="rect">
            <a:avLst/>
          </a:prstGeom>
        </p:spPr>
      </p:pic>
      <p:sp>
        <p:nvSpPr>
          <p:cNvPr id="3" name="TextBox 2"/>
          <p:cNvSpPr txBox="1"/>
          <p:nvPr/>
        </p:nvSpPr>
        <p:spPr>
          <a:xfrm>
            <a:off x="1097280" y="2697480"/>
            <a:ext cx="9966960" cy="1097280"/>
          </a:xfrm>
          <a:prstGeom prst="rect">
            <a:avLst/>
          </a:prstGeom>
          <a:noFill/>
        </p:spPr>
        <p:txBody>
          <a:bodyPr wrap="square">
            <a:spAutoFit/>
          </a:bodyPr>
          <a:lstStyle/>
          <a:p>
            <a:pPr algn="ctr">
              <a:spcAft>
                <a:spcPts val="800"/>
              </a:spcAft>
            </a:pPr>
            <a:r>
              <a:rPr sz="4400" b="1" i="0">
                <a:solidFill>
                  <a:srgbClr val="F3EAD3"/>
                </a:solidFill>
                <a:latin typeface="Georgia"/>
              </a:rPr>
              <a:t>What We Do For You</a:t>
            </a:r>
          </a:p>
        </p:txBody>
      </p:sp>
      <p:sp>
        <p:nvSpPr>
          <p:cNvPr id="4" name="TextBox 3"/>
          <p:cNvSpPr txBox="1"/>
          <p:nvPr/>
        </p:nvSpPr>
        <p:spPr>
          <a:xfrm>
            <a:off x="1097280" y="3657600"/>
            <a:ext cx="9966960" cy="914400"/>
          </a:xfrm>
          <a:prstGeom prst="rect">
            <a:avLst/>
          </a:prstGeom>
          <a:noFill/>
        </p:spPr>
        <p:txBody>
          <a:bodyPr wrap="square">
            <a:spAutoFit/>
          </a:bodyPr>
          <a:lstStyle/>
          <a:p>
            <a:pPr algn="ctr">
              <a:spcAft>
                <a:spcPts val="800"/>
              </a:spcAft>
            </a:pPr>
            <a:r>
              <a:rPr sz="2600" b="0" i="0">
                <a:solidFill>
                  <a:srgbClr val="FFFFFF"/>
                </a:solidFill>
                <a:latin typeface="Georgia"/>
              </a:rPr>
              <a:t>How we provide it — and what you will get</a:t>
            </a:r>
          </a:p>
        </p:txBody>
      </p:sp>
      <p:sp>
        <p:nvSpPr>
          <p:cNvPr id="5" name="TextBox 4"/>
          <p:cNvSpPr txBox="1"/>
          <p:nvPr/>
        </p:nvSpPr>
        <p:spPr>
          <a:xfrm>
            <a:off x="1097280" y="4572000"/>
            <a:ext cx="9966960" cy="731520"/>
          </a:xfrm>
          <a:prstGeom prst="rect">
            <a:avLst/>
          </a:prstGeom>
          <a:noFill/>
        </p:spPr>
        <p:txBody>
          <a:bodyPr wrap="square">
            <a:spAutoFit/>
          </a:bodyPr>
          <a:lstStyle/>
          <a:p>
            <a:pPr algn="ctr">
              <a:spcAft>
                <a:spcPts val="800"/>
              </a:spcAft>
            </a:pPr>
            <a:r>
              <a:rPr sz="1800" b="0" i="1">
                <a:solidFill>
                  <a:srgbClr val="D9C29A"/>
                </a:solidFill>
                <a:latin typeface="Georgia"/>
              </a:rPr>
              <a:t>Supporting Families, Building Futures</a:t>
            </a:r>
          </a:p>
        </p:txBody>
      </p:sp>
      <p:sp>
        <p:nvSpPr>
          <p:cNvPr id="6" name="TextBox 5"/>
          <p:cNvSpPr txBox="1"/>
          <p:nvPr/>
        </p:nvSpPr>
        <p:spPr>
          <a:xfrm>
            <a:off x="1097280" y="6035040"/>
            <a:ext cx="9966960" cy="457200"/>
          </a:xfrm>
          <a:prstGeom prst="rect">
            <a:avLst/>
          </a:prstGeom>
          <a:noFill/>
        </p:spPr>
        <p:txBody>
          <a:bodyPr wrap="square">
            <a:spAutoFit/>
          </a:bodyPr>
          <a:lstStyle/>
          <a:p>
            <a:pPr algn="ctr">
              <a:spcAft>
                <a:spcPts val="800"/>
              </a:spcAft>
            </a:pPr>
            <a:r>
              <a:rPr sz="1400" b="0" i="0">
                <a:solidFill>
                  <a:srgbClr val="F3EAD3"/>
                </a:solidFill>
                <a:latin typeface="Georgia"/>
              </a:rPr>
              <a:t>Southern Oak Financial &amp; Wellness  •  San Antonio &amp; the Rio Grande Valley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Who We Are</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A small business with a big heart — built for families of children and adults with special needs</a:t>
            </a:r>
          </a:p>
          <a:p>
            <a:pPr algn="l">
              <a:spcAft>
                <a:spcPts val="800"/>
              </a:spcAft>
            </a:pPr>
            <a:r>
              <a:rPr sz="2000" b="0" i="0">
                <a:solidFill>
                  <a:srgbClr val="2B2B24"/>
                </a:solidFill>
                <a:latin typeface="Georgia"/>
              </a:rPr>
              <a:t>•  Jessica Alvarez: advocate for 5 years in the special needs community, life insurance agent for 4 years</a:t>
            </a:r>
          </a:p>
          <a:p>
            <a:pPr algn="l">
              <a:spcAft>
                <a:spcPts val="800"/>
              </a:spcAft>
            </a:pPr>
            <a:r>
              <a:rPr sz="2000" b="0" i="0">
                <a:solidFill>
                  <a:srgbClr val="2B2B24"/>
                </a:solidFill>
                <a:latin typeface="Georgia"/>
              </a:rPr>
              <a:t>•  Jessica lives this herself — diagnosed with juvenile rheumatoid arthritis at age 11, her family went through the same struggles with benefits, medication, and help</a:t>
            </a:r>
          </a:p>
          <a:p>
            <a:pPr algn="l">
              <a:spcAft>
                <a:spcPts val="800"/>
              </a:spcAft>
            </a:pPr>
            <a:r>
              <a:rPr sz="2000" b="0" i="0">
                <a:solidFill>
                  <a:srgbClr val="2B2B24"/>
                </a:solidFill>
                <a:latin typeface="Georgia"/>
              </a:rPr>
              <a:t>•  That is why Southern Oak exists: so no family walks this alone</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
        <p:nvSpPr>
          <p:cNvPr id="7" name="TextBox 6"/>
          <p:cNvSpPr txBox="1"/>
          <p:nvPr/>
        </p:nvSpPr>
        <p:spPr>
          <a:xfrm>
            <a:off x="640080" y="5394960"/>
            <a:ext cx="10881360" cy="822960"/>
          </a:xfrm>
          <a:prstGeom prst="rect">
            <a:avLst/>
          </a:prstGeom>
          <a:noFill/>
        </p:spPr>
        <p:txBody>
          <a:bodyPr wrap="square">
            <a:spAutoFit/>
          </a:bodyPr>
          <a:lstStyle/>
          <a:p>
            <a:pPr algn="l">
              <a:spcAft>
                <a:spcPts val="800"/>
              </a:spcAft>
            </a:pPr>
            <a:r>
              <a:rPr sz="1500" b="0" i="1">
                <a:solidFill>
                  <a:srgbClr val="BC5A28"/>
                </a:solidFill>
                <a:latin typeface="Georgia"/>
              </a:rPr>
              <a:t>We speak English and Spanish. Everything is online, by Zoom and email — no office visit needed.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What We Do — Five Ways We Help</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SSA Benefits — help applying for SSI / SSDI for a child or an adult</a:t>
            </a:r>
          </a:p>
          <a:p>
            <a:pPr algn="l">
              <a:spcAft>
                <a:spcPts val="800"/>
              </a:spcAft>
            </a:pPr>
            <a:r>
              <a:rPr sz="2000" b="0" i="0">
                <a:solidFill>
                  <a:srgbClr val="2B2B24"/>
                </a:solidFill>
                <a:latin typeface="Georgia"/>
              </a:rPr>
              <a:t>•  Life Insurance — protection plans (Term &amp; IUL, Living Benefits). No fee until you approve a policy</a:t>
            </a:r>
          </a:p>
          <a:p>
            <a:pPr algn="l">
              <a:spcAft>
                <a:spcPts val="800"/>
              </a:spcAft>
            </a:pPr>
            <a:r>
              <a:rPr sz="2000" b="0" i="0">
                <a:solidFill>
                  <a:srgbClr val="2B2B24"/>
                </a:solidFill>
                <a:latin typeface="Georgia"/>
              </a:rPr>
              <a:t>•  Medication Assistance — a free check to lower what you pay for medicine</a:t>
            </a:r>
          </a:p>
          <a:p>
            <a:pPr algn="l">
              <a:spcAft>
                <a:spcPts val="800"/>
              </a:spcAft>
            </a:pPr>
            <a:r>
              <a:rPr sz="2000" b="0" i="0">
                <a:solidFill>
                  <a:srgbClr val="2B2B24"/>
                </a:solidFill>
                <a:latin typeface="Georgia"/>
              </a:rPr>
              <a:t>•  Budget &amp; Credit Repair — a monthly budget that works, and a plan to fix credit</a:t>
            </a:r>
          </a:p>
          <a:p>
            <a:pPr algn="l">
              <a:spcAft>
                <a:spcPts val="800"/>
              </a:spcAft>
            </a:pPr>
            <a:r>
              <a:rPr sz="2000" b="0" i="0">
                <a:solidFill>
                  <a:srgbClr val="2B2B24"/>
                </a:solidFill>
                <a:latin typeface="Georgia"/>
              </a:rPr>
              <a:t>•  Transition to 18 — getting your young adult ready for adult benefits and adult life</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How We Provide It — From Start to Finish</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1 · Book your FREE consultation and fill out your intake online</a:t>
            </a:r>
          </a:p>
          <a:p>
            <a:pPr algn="l">
              <a:spcAft>
                <a:spcPts val="800"/>
              </a:spcAft>
            </a:pPr>
            <a:r>
              <a:rPr sz="2000" b="0" i="0">
                <a:solidFill>
                  <a:srgbClr val="2B2B24"/>
                </a:solidFill>
                <a:latin typeface="Georgia"/>
              </a:rPr>
              <a:t>•  2 · We review everything — where you are, what you need, what is already in place</a:t>
            </a:r>
          </a:p>
          <a:p>
            <a:pPr algn="l">
              <a:spcAft>
                <a:spcPts val="800"/>
              </a:spcAft>
            </a:pPr>
            <a:r>
              <a:rPr sz="2000" b="0" i="0">
                <a:solidFill>
                  <a:srgbClr val="2B2B24"/>
                </a:solidFill>
                <a:latin typeface="Georgia"/>
              </a:rPr>
              <a:t>•  3 · You get your RESULTS page — free, yours to keep: what we found, what you need, your first steps in order</a:t>
            </a:r>
          </a:p>
          <a:p>
            <a:pPr algn="l">
              <a:spcAft>
                <a:spcPts val="800"/>
              </a:spcAft>
            </a:pPr>
            <a:r>
              <a:rPr sz="2000" b="0" i="0">
                <a:solidFill>
                  <a:srgbClr val="2B2B24"/>
                </a:solidFill>
                <a:latin typeface="Georgia"/>
              </a:rPr>
              <a:t>•  4 · You choose: we build your plan, we guide you on Zoom, or we do just the one thing you need</a:t>
            </a:r>
          </a:p>
          <a:p>
            <a:pPr algn="l">
              <a:spcAft>
                <a:spcPts val="800"/>
              </a:spcAft>
            </a:pPr>
            <a:r>
              <a:rPr sz="2000" b="0" i="0">
                <a:solidFill>
                  <a:srgbClr val="2B2B24"/>
                </a:solidFill>
                <a:latin typeface="Georgia"/>
              </a:rPr>
              <a:t>•  5 · We work it together, step by step — and you always know the price before you pay</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What We Review For You — Free</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SSA Benefits — what you have now, where your case stands, your deadlines</a:t>
            </a:r>
          </a:p>
          <a:p>
            <a:pPr algn="l">
              <a:spcAft>
                <a:spcPts val="800"/>
              </a:spcAft>
            </a:pPr>
            <a:r>
              <a:rPr sz="2000" b="0" i="0">
                <a:solidFill>
                  <a:srgbClr val="2B2B24"/>
                </a:solidFill>
                <a:latin typeface="Georgia"/>
              </a:rPr>
              <a:t>•  Medication — your full list, what you pay now, where you can pay less</a:t>
            </a:r>
          </a:p>
          <a:p>
            <a:pPr algn="l">
              <a:spcAft>
                <a:spcPts val="800"/>
              </a:spcAft>
            </a:pPr>
            <a:r>
              <a:rPr sz="2000" b="0" i="0">
                <a:solidFill>
                  <a:srgbClr val="2B2B24"/>
                </a:solidFill>
                <a:latin typeface="Georgia"/>
              </a:rPr>
              <a:t>•  Protection — is your family covered if something happens to you?</a:t>
            </a:r>
          </a:p>
          <a:p>
            <a:pPr algn="l">
              <a:spcAft>
                <a:spcPts val="800"/>
              </a:spcAft>
            </a:pPr>
            <a:r>
              <a:rPr sz="2000" b="0" i="0">
                <a:solidFill>
                  <a:srgbClr val="2B2B24"/>
                </a:solidFill>
                <a:latin typeface="Georgia"/>
              </a:rPr>
              <a:t>•  Budget &amp; Credit — money in, money out, and your credit goal</a:t>
            </a:r>
          </a:p>
          <a:p>
            <a:pPr algn="l">
              <a:spcAft>
                <a:spcPts val="800"/>
              </a:spcAft>
            </a:pPr>
            <a:r>
              <a:rPr sz="2000" b="0" i="0">
                <a:solidFill>
                  <a:srgbClr val="2B2B24"/>
                </a:solidFill>
                <a:latin typeface="Georgia"/>
              </a:rPr>
              <a:t>•  Already In Place — guardianship, waiver, living plan, rides, trust, ABLE, power of attorney</a:t>
            </a:r>
          </a:p>
          <a:p>
            <a:pPr algn="l">
              <a:spcAft>
                <a:spcPts val="800"/>
              </a:spcAft>
            </a:pPr>
            <a:r>
              <a:rPr sz="2000" b="0" i="0">
                <a:solidFill>
                  <a:srgbClr val="2B2B24"/>
                </a:solidFill>
                <a:latin typeface="Georgia"/>
              </a:rPr>
              <a:t>•  The Road to 18 — for young adults: decisions and papers that must happen BEFORE the birthday</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Your Results Page — Yours To Keep, Free</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Where you are — in each of the six areas, in simple words</a:t>
            </a:r>
          </a:p>
          <a:p>
            <a:pPr algn="l">
              <a:spcAft>
                <a:spcPts val="800"/>
              </a:spcAft>
            </a:pPr>
            <a:r>
              <a:rPr sz="2000" b="0" i="0">
                <a:solidFill>
                  <a:srgbClr val="2B2B24"/>
                </a:solidFill>
                <a:latin typeface="Georgia"/>
              </a:rPr>
              <a:t>•  What you need — the gaps we found</a:t>
            </a:r>
          </a:p>
          <a:p>
            <a:pPr algn="l">
              <a:spcAft>
                <a:spcPts val="800"/>
              </a:spcAft>
            </a:pPr>
            <a:r>
              <a:rPr sz="2000" b="0" i="0">
                <a:solidFill>
                  <a:srgbClr val="2B2B24"/>
                </a:solidFill>
                <a:latin typeface="Georgia"/>
              </a:rPr>
              <a:t>•  Your first steps — in order: 1, 2, 3</a:t>
            </a:r>
          </a:p>
          <a:p>
            <a:pPr algn="l">
              <a:spcAft>
                <a:spcPts val="800"/>
              </a:spcAft>
            </a:pPr>
            <a:r>
              <a:rPr sz="2000" b="0" i="0">
                <a:solidFill>
                  <a:srgbClr val="2B2B24"/>
                </a:solidFill>
                <a:latin typeface="Georgia"/>
              </a:rPr>
              <a:t>•  Our recommendation — and exactly what it costs, in writing</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
        <p:nvSpPr>
          <p:cNvPr id="7" name="TextBox 6"/>
          <p:cNvSpPr txBox="1"/>
          <p:nvPr/>
        </p:nvSpPr>
        <p:spPr>
          <a:xfrm>
            <a:off x="640080" y="5394960"/>
            <a:ext cx="10881360" cy="822960"/>
          </a:xfrm>
          <a:prstGeom prst="rect">
            <a:avLst/>
          </a:prstGeom>
          <a:noFill/>
        </p:spPr>
        <p:txBody>
          <a:bodyPr wrap="square">
            <a:spAutoFit/>
          </a:bodyPr>
          <a:lstStyle/>
          <a:p>
            <a:pPr algn="l">
              <a:spcAft>
                <a:spcPts val="800"/>
              </a:spcAft>
            </a:pPr>
            <a:r>
              <a:rPr sz="1500" b="0" i="1">
                <a:solidFill>
                  <a:srgbClr val="BC5A28"/>
                </a:solidFill>
                <a:latin typeface="Georgia"/>
              </a:rPr>
              <a:t>No surprises. No pressure. The results page is yours either 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Our Only Package — The Plan Package</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One package. One price. We do not sell levels or tiers</a:t>
            </a:r>
          </a:p>
          <a:p>
            <a:pPr algn="l">
              <a:spcAft>
                <a:spcPts val="800"/>
              </a:spcAft>
            </a:pPr>
            <a:r>
              <a:rPr sz="2000" b="0" i="0">
                <a:solidFill>
                  <a:srgbClr val="2B2B24"/>
                </a:solidFill>
                <a:latin typeface="Georgia"/>
              </a:rPr>
              <a:t>•  We build your full written plan from your intake — for a family, a child (5–17), or a young adult (18–26)</a:t>
            </a:r>
          </a:p>
          <a:p>
            <a:pPr algn="l">
              <a:spcAft>
                <a:spcPts val="800"/>
              </a:spcAft>
            </a:pPr>
            <a:r>
              <a:rPr sz="2000" b="0" i="0">
                <a:solidFill>
                  <a:srgbClr val="2B2B24"/>
                </a:solidFill>
                <a:latin typeface="Georgia"/>
              </a:rPr>
              <a:t>•  What to work on FIRST, marked clear — your steps in order, with every deadline written down</a:t>
            </a:r>
          </a:p>
          <a:p>
            <a:pPr algn="l">
              <a:spcAft>
                <a:spcPts val="800"/>
              </a:spcAft>
            </a:pPr>
            <a:r>
              <a:rPr sz="2000" b="0" i="0">
                <a:solidFill>
                  <a:srgbClr val="2B2B24"/>
                </a:solidFill>
                <a:latin typeface="Georgia"/>
              </a:rPr>
              <a:t>•  A delivery Zoom with Jessica to walk through your plan together</a:t>
            </a:r>
          </a:p>
          <a:p>
            <a:pPr algn="l">
              <a:spcAft>
                <a:spcPts val="800"/>
              </a:spcAft>
            </a:pPr>
            <a:r>
              <a:rPr sz="2000" b="0" i="0">
                <a:solidFill>
                  <a:srgbClr val="2B2B24"/>
                </a:solidFill>
                <a:latin typeface="Georgia"/>
              </a:rPr>
              <a:t>•  $399 one time — pay 50/50: $199.50 when you sign, $199.50 before we provide your plan</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
        <p:nvSpPr>
          <p:cNvPr id="7" name="TextBox 6"/>
          <p:cNvSpPr txBox="1"/>
          <p:nvPr/>
        </p:nvSpPr>
        <p:spPr>
          <a:xfrm>
            <a:off x="640080" y="5394960"/>
            <a:ext cx="10881360" cy="822960"/>
          </a:xfrm>
          <a:prstGeom prst="rect">
            <a:avLst/>
          </a:prstGeom>
          <a:noFill/>
        </p:spPr>
        <p:txBody>
          <a:bodyPr wrap="square">
            <a:spAutoFit/>
          </a:bodyPr>
          <a:lstStyle/>
          <a:p>
            <a:pPr algn="l">
              <a:spcAft>
                <a:spcPts val="800"/>
              </a:spcAft>
            </a:pPr>
            <a:r>
              <a:rPr sz="1500" b="0" i="1">
                <a:solidFill>
                  <a:srgbClr val="BC5A28"/>
                </a:solidFill>
                <a:latin typeface="Georgia"/>
              </a:rPr>
              <a:t>Planning firms charge about $2,926 on average to build a plan. Ours is built for families like yours.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If Your Plan Is For Your Family</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All six areas reviewed together — benefits, medication, protection, budget &amp; credit, what is in place, the road ahead</a:t>
            </a:r>
          </a:p>
          <a:p>
            <a:pPr algn="l">
              <a:spcAft>
                <a:spcPts val="800"/>
              </a:spcAft>
            </a:pPr>
            <a:r>
              <a:rPr sz="2000" b="0" i="0">
                <a:solidFill>
                  <a:srgbClr val="2B2B24"/>
                </a:solidFill>
                <a:latin typeface="Georgia"/>
              </a:rPr>
              <a:t>•  The one thing to work on FIRST — most families try to fix everything at once; your plan gives you an order</a:t>
            </a:r>
          </a:p>
          <a:p>
            <a:pPr algn="l">
              <a:spcAft>
                <a:spcPts val="800"/>
              </a:spcAft>
            </a:pPr>
            <a:r>
              <a:rPr sz="2000" b="0" i="0">
                <a:solidFill>
                  <a:srgbClr val="2B2B24"/>
                </a:solidFill>
                <a:latin typeface="Georgia"/>
              </a:rPr>
              <a:t>•  Every deadline on paper — appeals, renewals, waiver lists, the eighteenth birthday</a:t>
            </a:r>
          </a:p>
          <a:p>
            <a:pPr algn="l">
              <a:spcAft>
                <a:spcPts val="800"/>
              </a:spcAft>
            </a:pPr>
            <a:r>
              <a:rPr sz="2000" b="0" i="0">
                <a:solidFill>
                  <a:srgbClr val="2B2B24"/>
                </a:solidFill>
                <a:latin typeface="Georgia"/>
              </a:rPr>
              <a:t>•  Simple words, in order, in one folder your whole family can follow</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If Your Plan Is For Your Child Or Young Adult</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Child, ages 5–17 — what to expect at each stage, prepare the file now, get ready for 18</a:t>
            </a:r>
          </a:p>
          <a:p>
            <a:pPr algn="l">
              <a:spcAft>
                <a:spcPts val="800"/>
              </a:spcAft>
            </a:pPr>
            <a:r>
              <a:rPr sz="2000" b="0" i="0">
                <a:solidFill>
                  <a:srgbClr val="2B2B24"/>
                </a:solidFill>
                <a:latin typeface="Georgia"/>
              </a:rPr>
              <a:t>•  The papers that take time: decision papers, the $2,000 rule, ABLE accounts, waiver waiting lists</a:t>
            </a:r>
          </a:p>
          <a:p>
            <a:pPr algn="l">
              <a:spcAft>
                <a:spcPts val="800"/>
              </a:spcAft>
            </a:pPr>
            <a:r>
              <a:rPr sz="2000" b="0" i="0">
                <a:solidFill>
                  <a:srgbClr val="2B2B24"/>
                </a:solidFill>
                <a:latin typeface="Georgia"/>
              </a:rPr>
              <a:t>•  Young adult, ages 18–26 — a budget on their real income, a living plan with real costs and rides</a:t>
            </a:r>
          </a:p>
          <a:p>
            <a:pPr algn="l">
              <a:spcAft>
                <a:spcPts val="800"/>
              </a:spcAft>
            </a:pPr>
            <a:r>
              <a:rPr sz="2000" b="0" i="0">
                <a:solidFill>
                  <a:srgbClr val="2B2B24"/>
                </a:solidFill>
                <a:latin typeface="Georgia"/>
              </a:rPr>
              <a:t>•  And the SSA filing plan under adult rules — because at 18, Social Security decides again</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SSA Filing Help — What You Will Get</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The steps, in order, in simple words — you file it yourself, we guide you</a:t>
            </a:r>
          </a:p>
          <a:p>
            <a:pPr algn="l">
              <a:spcAft>
                <a:spcPts val="800"/>
              </a:spcAft>
            </a:pPr>
            <a:r>
              <a:rPr sz="2000" b="0" i="0">
                <a:solidFill>
                  <a:srgbClr val="2B2B24"/>
                </a:solidFill>
                <a:latin typeface="Georgia"/>
              </a:rPr>
              <a:t>•  Jessica on Zoom with you while you file — up to 4 HOURS of guidance included, until your filing is complete</a:t>
            </a:r>
          </a:p>
          <a:p>
            <a:pPr algn="l">
              <a:spcAft>
                <a:spcPts val="800"/>
              </a:spcAft>
            </a:pPr>
            <a:r>
              <a:rPr sz="2000" b="0" i="0">
                <a:solidFill>
                  <a:srgbClr val="2B2B24"/>
                </a:solidFill>
                <a:latin typeface="Georgia"/>
              </a:rPr>
              <a:t>•  Help with ID.me, your answers, and your Reference # — saved, so you can always get back in</a:t>
            </a:r>
          </a:p>
          <a:p>
            <a:pPr algn="l">
              <a:spcAft>
                <a:spcPts val="800"/>
              </a:spcAft>
            </a:pPr>
            <a:r>
              <a:rPr sz="2000" b="0" i="0">
                <a:solidFill>
                  <a:srgbClr val="2B2B24"/>
                </a:solidFill>
                <a:latin typeface="Georgia"/>
              </a:rPr>
              <a:t>•  $50 total, paid in full to start — need more time after 4 hours? $10 for every extra 30 minutes</a:t>
            </a:r>
          </a:p>
          <a:p>
            <a:pPr algn="l">
              <a:spcAft>
                <a:spcPts val="800"/>
              </a:spcAft>
            </a:pPr>
            <a:r>
              <a:rPr sz="2000" b="0" i="0">
                <a:solidFill>
                  <a:srgbClr val="2B2B24"/>
                </a:solidFill>
                <a:latin typeface="Georgia"/>
              </a:rPr>
              <a:t>•  Denied? Email us right away — we connect you with special needs attorneys, no upfront fee</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Credit Repair — What You Will Get</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A full analysis of your credit reports — what is hurting you, in simple words</a:t>
            </a:r>
          </a:p>
          <a:p>
            <a:pPr algn="l">
              <a:spcAft>
                <a:spcPts val="800"/>
              </a:spcAft>
            </a:pPr>
            <a:r>
              <a:rPr sz="2000" b="0" i="0">
                <a:solidFill>
                  <a:srgbClr val="2B2B24"/>
                </a:solidFill>
                <a:latin typeface="Georgia"/>
              </a:rPr>
              <a:t>•  Your first dispute, prepared for you — you sign your own letters</a:t>
            </a:r>
          </a:p>
          <a:p>
            <a:pPr algn="l">
              <a:spcAft>
                <a:spcPts val="800"/>
              </a:spcAft>
            </a:pPr>
            <a:r>
              <a:rPr sz="2000" b="0" i="0">
                <a:solidFill>
                  <a:srgbClr val="2B2B24"/>
                </a:solidFill>
                <a:latin typeface="Georgia"/>
              </a:rPr>
              <a:t>•  $150 total, paid in full to start (analysis + first dispute)</a:t>
            </a:r>
          </a:p>
          <a:p>
            <a:pPr algn="l">
              <a:spcAft>
                <a:spcPts val="800"/>
              </a:spcAft>
            </a:pPr>
            <a:r>
              <a:rPr sz="2000" b="0" i="0">
                <a:solidFill>
                  <a:srgbClr val="2B2B24"/>
                </a:solidFill>
                <a:latin typeface="Georgia"/>
              </a:rPr>
              <a:t>•  Need further help? Essential Repair — more disputes + monitoring — $89/month, cancel anytime</a:t>
            </a:r>
          </a:p>
          <a:p>
            <a:pPr algn="l">
              <a:spcAft>
                <a:spcPts val="800"/>
              </a:spcAft>
            </a:pPr>
            <a:r>
              <a:rPr sz="2000" b="0" i="0">
                <a:solidFill>
                  <a:srgbClr val="2B2B24"/>
                </a:solidFill>
                <a:latin typeface="Georgia"/>
              </a:rPr>
              <a:t>•  Plus a simple monthly budget that fits your real life</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Medication &amp; Life Insurance — Always A Free Start</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Medication check — FREE: we check GoodRx, Cost Plus Drugs, and maker help programs for every medicine you take</a:t>
            </a:r>
          </a:p>
          <a:p>
            <a:pPr algn="l">
              <a:spcAft>
                <a:spcPts val="800"/>
              </a:spcAft>
            </a:pPr>
            <a:r>
              <a:rPr sz="2000" b="0" i="0">
                <a:solidFill>
                  <a:srgbClr val="2B2B24"/>
                </a:solidFill>
                <a:latin typeface="Georgia"/>
              </a:rPr>
              <a:t>•  If your medication is on our list, the assistance forms are FREE</a:t>
            </a:r>
          </a:p>
          <a:p>
            <a:pPr algn="l">
              <a:spcAft>
                <a:spcPts val="800"/>
              </a:spcAft>
            </a:pPr>
            <a:r>
              <a:rPr sz="2000" b="0" i="0">
                <a:solidFill>
                  <a:srgbClr val="2B2B24"/>
                </a:solidFill>
                <a:latin typeface="Georgia"/>
              </a:rPr>
              <a:t>•  Life insurance talk — FREE: we look at what your family needs, with Living Benefits explained in simple words</a:t>
            </a:r>
          </a:p>
          <a:p>
            <a:pPr algn="l">
              <a:spcAft>
                <a:spcPts val="800"/>
              </a:spcAft>
            </a:pPr>
            <a:r>
              <a:rPr sz="2000" b="0" i="0">
                <a:solidFill>
                  <a:srgbClr val="2B2B24"/>
                </a:solidFill>
                <a:latin typeface="Georgia"/>
              </a:rPr>
              <a:t>•  No fee for insurance help — you pay nothing unless you approve a policy</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Help Is Included — SSA Filing Help</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SSA filing help — $50, paid in full: you get the steps, and you file with Jessica guiding you</a:t>
            </a:r>
          </a:p>
          <a:p>
            <a:pPr algn="l">
              <a:spcAft>
                <a:spcPts val="800"/>
              </a:spcAft>
            </a:pPr>
            <a:r>
              <a:rPr sz="2000" b="0" i="0">
                <a:solidFill>
                  <a:srgbClr val="2B2B24"/>
                </a:solidFill>
                <a:latin typeface="Georgia"/>
              </a:rPr>
              <a:t>•  Up to 4 hours of Zoom guidance included, until your filing is complete</a:t>
            </a:r>
          </a:p>
          <a:p>
            <a:pPr algn="l">
              <a:spcAft>
                <a:spcPts val="800"/>
              </a:spcAft>
            </a:pPr>
            <a:r>
              <a:rPr sz="2000" b="0" i="0">
                <a:solidFill>
                  <a:srgbClr val="2B2B24"/>
                </a:solidFill>
                <a:latin typeface="Georgia"/>
              </a:rPr>
              <a:t>•  Need more time? Extra guidance is $10 per 30 minutes — only for the time you use</a:t>
            </a:r>
          </a:p>
          <a:p>
            <a:pPr algn="l">
              <a:spcAft>
                <a:spcPts val="800"/>
              </a:spcAft>
            </a:pPr>
            <a:r>
              <a:rPr sz="2000" b="0" i="0">
                <a:solidFill>
                  <a:srgbClr val="2B2B24"/>
                </a:solidFill>
                <a:latin typeface="Georgia"/>
              </a:rPr>
              <a:t>•  Questions any time — email us: southernoakfw@gmail.com</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Every Price, Up Front</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Free consultation + your results page — FREE</a:t>
            </a:r>
          </a:p>
          <a:p>
            <a:pPr algn="l">
              <a:spcAft>
                <a:spcPts val="800"/>
              </a:spcAft>
            </a:pPr>
            <a:r>
              <a:rPr sz="2000" b="0" i="0">
                <a:solidFill>
                  <a:srgbClr val="2B2B24"/>
                </a:solidFill>
                <a:latin typeface="Georgia"/>
              </a:rPr>
              <a:t>•  THE PACKAGE — our only package: The Plan Package — $399, pay 50/50</a:t>
            </a:r>
          </a:p>
          <a:p>
            <a:pPr algn="l">
              <a:spcAft>
                <a:spcPts val="800"/>
              </a:spcAft>
            </a:pPr>
            <a:r>
              <a:rPr sz="2000" b="0" i="0">
                <a:solidFill>
                  <a:srgbClr val="2B2B24"/>
                </a:solidFill>
                <a:latin typeface="Georgia"/>
              </a:rPr>
              <a:t>•  Separate help (not packages): SSA filing help $50 · extra time $10 / 30 min</a:t>
            </a:r>
          </a:p>
          <a:p>
            <a:pPr algn="l">
              <a:spcAft>
                <a:spcPts val="800"/>
              </a:spcAft>
            </a:pPr>
            <a:r>
              <a:rPr sz="2000" b="0" i="0">
                <a:solidFill>
                  <a:srgbClr val="2B2B24"/>
                </a:solidFill>
                <a:latin typeface="Georgia"/>
              </a:rPr>
              <a:t>•  Separate help: Credit analysis + first dispute $150 · further help $89/month, cancel anytime</a:t>
            </a:r>
          </a:p>
          <a:p>
            <a:pPr algn="l">
              <a:spcAft>
                <a:spcPts val="800"/>
              </a:spcAft>
            </a:pPr>
            <a:r>
              <a:rPr sz="2000" b="0" i="0">
                <a:solidFill>
                  <a:srgbClr val="2B2B24"/>
                </a:solidFill>
                <a:latin typeface="Georgia"/>
              </a:rPr>
              <a:t>•  Medication check — FREE · Life insurance talk — FREE</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
        <p:nvSpPr>
          <p:cNvPr id="7" name="TextBox 6"/>
          <p:cNvSpPr txBox="1"/>
          <p:nvPr/>
        </p:nvSpPr>
        <p:spPr>
          <a:xfrm>
            <a:off x="640080" y="5394960"/>
            <a:ext cx="10881360" cy="822960"/>
          </a:xfrm>
          <a:prstGeom prst="rect">
            <a:avLst/>
          </a:prstGeom>
          <a:noFill/>
        </p:spPr>
        <p:txBody>
          <a:bodyPr wrap="square">
            <a:spAutoFit/>
          </a:bodyPr>
          <a:lstStyle/>
          <a:p>
            <a:pPr algn="l">
              <a:spcAft>
                <a:spcPts val="800"/>
              </a:spcAft>
            </a:pPr>
            <a:r>
              <a:rPr sz="1500" b="0" i="1">
                <a:solidFill>
                  <a:srgbClr val="BC5A28"/>
                </a:solidFill>
                <a:latin typeface="Georgia"/>
              </a:rPr>
              <a:t>No surprises. The price is the price — in writing, before you pay.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C"/>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1064240" cy="731520"/>
          </a:xfrm>
          <a:prstGeom prst="rect">
            <a:avLst/>
          </a:prstGeom>
          <a:noFill/>
        </p:spPr>
        <p:txBody>
          <a:bodyPr wrap="square">
            <a:spAutoFit/>
          </a:bodyPr>
          <a:lstStyle/>
          <a:p>
            <a:pPr algn="l">
              <a:spcAft>
                <a:spcPts val="800"/>
              </a:spcAft>
            </a:pPr>
            <a:r>
              <a:rPr sz="3000" b="1" i="0">
                <a:solidFill>
                  <a:srgbClr val="F3EAD3"/>
                </a:solidFill>
                <a:latin typeface="Georgia"/>
              </a:rPr>
              <a:t>Your Questions</a:t>
            </a:r>
          </a:p>
        </p:txBody>
      </p:sp>
      <p:sp>
        <p:nvSpPr>
          <p:cNvPr id="4" name="TextBox 3"/>
          <p:cNvSpPr txBox="1"/>
          <p:nvPr/>
        </p:nvSpPr>
        <p:spPr>
          <a:xfrm>
            <a:off x="640080" y="1463040"/>
            <a:ext cx="10881360" cy="4206240"/>
          </a:xfrm>
          <a:prstGeom prst="rect">
            <a:avLst/>
          </a:prstGeom>
          <a:noFill/>
        </p:spPr>
        <p:txBody>
          <a:bodyPr wrap="square">
            <a:spAutoFit/>
          </a:bodyPr>
          <a:lstStyle/>
          <a:p>
            <a:pPr algn="l">
              <a:spcAft>
                <a:spcPts val="800"/>
              </a:spcAft>
            </a:pPr>
            <a:r>
              <a:rPr sz="2000" b="0" i="0">
                <a:solidFill>
                  <a:srgbClr val="2B2B24"/>
                </a:solidFill>
                <a:latin typeface="Georgia"/>
              </a:rPr>
              <a:t>•  What worries you most right now?</a:t>
            </a:r>
          </a:p>
          <a:p>
            <a:pPr algn="l">
              <a:spcAft>
                <a:spcPts val="800"/>
              </a:spcAft>
            </a:pPr>
            <a:r>
              <a:rPr sz="2000" b="0" i="0">
                <a:solidFill>
                  <a:srgbClr val="2B2B24"/>
                </a:solidFill>
                <a:latin typeface="Georgia"/>
              </a:rPr>
              <a:t>•  What would change for your family if that one thing was handled?</a:t>
            </a:r>
          </a:p>
          <a:p>
            <a:pPr algn="l">
              <a:spcAft>
                <a:spcPts val="800"/>
              </a:spcAft>
            </a:pPr>
            <a:r>
              <a:rPr sz="2000" b="0" i="0">
                <a:solidFill>
                  <a:srgbClr val="2B2B24"/>
                </a:solidFill>
                <a:latin typeface="Georgia"/>
              </a:rPr>
              <a:t>•  Ask me anything about how we work — I will answer it straight</a:t>
            </a:r>
          </a:p>
        </p:txBody>
      </p:sp>
      <p:sp>
        <p:nvSpPr>
          <p:cNvPr id="5" name="Rectangle 4"/>
          <p:cNvSpPr/>
          <p:nvPr/>
        </p:nvSpPr>
        <p:spPr>
          <a:xfrm>
            <a:off x="0" y="6455664"/>
            <a:ext cx="12191695" cy="402336"/>
          </a:xfrm>
          <a:prstGeom prst="rect">
            <a:avLst/>
          </a:prstGeom>
          <a:solidFill>
            <a:srgbClr val="3E4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1064240" cy="320040"/>
          </a:xfrm>
          <a:prstGeom prst="rect">
            <a:avLst/>
          </a:prstGeom>
          <a:noFill/>
        </p:spPr>
        <p:txBody>
          <a:bodyPr wrap="square">
            <a:spAutoFit/>
          </a:bodyPr>
          <a:lstStyle/>
          <a:p>
            <a:pPr algn="l">
              <a:spcAft>
                <a:spcPts val="800"/>
              </a:spcAft>
            </a:pPr>
            <a:r>
              <a:rPr sz="1200" b="0" i="0">
                <a:solidFill>
                  <a:srgbClr val="F3EAD3"/>
                </a:solidFill>
                <a:latin typeface="Georgia"/>
              </a:rPr>
              <a:t>Southern Oak Financial &amp; Wellness  •  southernoakfw@gmail.com  •  southernoakfw.org</a:t>
            </a:r>
          </a:p>
        </p:txBody>
      </p:sp>
      <p:sp>
        <p:nvSpPr>
          <p:cNvPr id="7" name="TextBox 6"/>
          <p:cNvSpPr txBox="1"/>
          <p:nvPr/>
        </p:nvSpPr>
        <p:spPr>
          <a:xfrm>
            <a:off x="640080" y="5394960"/>
            <a:ext cx="10881360" cy="822960"/>
          </a:xfrm>
          <a:prstGeom prst="rect">
            <a:avLst/>
          </a:prstGeom>
          <a:noFill/>
        </p:spPr>
        <p:txBody>
          <a:bodyPr wrap="square">
            <a:spAutoFit/>
          </a:bodyPr>
          <a:lstStyle/>
          <a:p>
            <a:pPr algn="l">
              <a:spcAft>
                <a:spcPts val="800"/>
              </a:spcAft>
            </a:pPr>
            <a:r>
              <a:rPr sz="1500" b="0" i="1">
                <a:solidFill>
                  <a:srgbClr val="BC5A28"/>
                </a:solidFill>
                <a:latin typeface="Georgia"/>
              </a:rPr>
              <a:t>There is no wrong question here.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3E4A24"/>
        </a:solidFill>
        <a:effectLst/>
      </p:bgPr>
    </p:bg>
    <p:spTree>
      <p:nvGrpSpPr>
        <p:cNvPr id="1" name=""/>
        <p:cNvGrpSpPr/>
        <p:nvPr/>
      </p:nvGrpSpPr>
      <p:grpSpPr/>
      <p:sp>
        <p:nvSpPr>
          <p:cNvPr id="2" name="TextBox 1"/>
          <p:cNvSpPr txBox="1"/>
          <p:nvPr/>
        </p:nvSpPr>
        <p:spPr>
          <a:xfrm>
            <a:off x="1097280" y="914400"/>
            <a:ext cx="9966960" cy="1097280"/>
          </a:xfrm>
          <a:prstGeom prst="rect">
            <a:avLst/>
          </a:prstGeom>
          <a:noFill/>
        </p:spPr>
        <p:txBody>
          <a:bodyPr wrap="square">
            <a:spAutoFit/>
          </a:bodyPr>
          <a:lstStyle/>
          <a:p>
            <a:pPr algn="ctr">
              <a:spcAft>
                <a:spcPts val="800"/>
              </a:spcAft>
            </a:pPr>
            <a:r>
              <a:rPr sz="4000" b="1" i="0">
                <a:solidFill>
                  <a:srgbClr val="F3EAD3"/>
                </a:solidFill>
                <a:latin typeface="Georgia"/>
              </a:rPr>
              <a:t>What Happens Next</a:t>
            </a:r>
          </a:p>
        </p:txBody>
      </p:sp>
      <p:sp>
        <p:nvSpPr>
          <p:cNvPr id="3" name="TextBox 2"/>
          <p:cNvSpPr txBox="1"/>
          <p:nvPr/>
        </p:nvSpPr>
        <p:spPr>
          <a:xfrm>
            <a:off x="1554480" y="2011680"/>
            <a:ext cx="9052560" cy="2011680"/>
          </a:xfrm>
          <a:prstGeom prst="rect">
            <a:avLst/>
          </a:prstGeom>
          <a:noFill/>
        </p:spPr>
        <p:txBody>
          <a:bodyPr wrap="square">
            <a:spAutoFit/>
          </a:bodyPr>
          <a:lstStyle/>
          <a:p>
            <a:pPr algn="ctr">
              <a:spcAft>
                <a:spcPts val="800"/>
              </a:spcAft>
            </a:pPr>
            <a:r>
              <a:rPr sz="2200" b="0" i="0">
                <a:solidFill>
                  <a:srgbClr val="FFFFFF"/>
                </a:solidFill>
                <a:latin typeface="Georgia"/>
              </a:rPr>
              <a:t>1 · We send your results page by email</a:t>
            </a:r>
          </a:p>
          <a:p>
            <a:pPr algn="ctr">
              <a:spcAft>
                <a:spcPts val="800"/>
              </a:spcAft>
            </a:pPr>
            <a:r>
              <a:rPr sz="2200" b="0" i="0">
                <a:solidFill>
                  <a:srgbClr val="FFFFFF"/>
                </a:solidFill>
                <a:latin typeface="Georgia"/>
              </a:rPr>
              <a:t>2 · You take your time and decide — no pressure</a:t>
            </a:r>
          </a:p>
          <a:p>
            <a:pPr algn="ctr">
              <a:spcAft>
                <a:spcPts val="800"/>
              </a:spcAft>
            </a:pPr>
            <a:r>
              <a:rPr sz="2200" b="0" i="0">
                <a:solidFill>
                  <a:srgbClr val="FFFFFF"/>
                </a:solidFill>
                <a:latin typeface="Georgia"/>
              </a:rPr>
              <a:t>3 · When you are ready, email us: southernoakfw@gmail.com</a:t>
            </a:r>
          </a:p>
          <a:p>
            <a:pPr algn="ctr">
              <a:spcAft>
                <a:spcPts val="800"/>
              </a:spcAft>
            </a:pPr>
            <a:r>
              <a:rPr sz="2200" b="0" i="0">
                <a:solidFill>
                  <a:srgbClr val="FFFFFF"/>
                </a:solidFill>
                <a:latin typeface="Georgia"/>
              </a:rPr>
              <a:t>4 · We start — together, step by step</a:t>
            </a:r>
          </a:p>
        </p:txBody>
      </p:sp>
      <p:sp>
        <p:nvSpPr>
          <p:cNvPr id="4" name="TextBox 3"/>
          <p:cNvSpPr txBox="1"/>
          <p:nvPr/>
        </p:nvSpPr>
        <p:spPr>
          <a:xfrm>
            <a:off x="1097280" y="4480560"/>
            <a:ext cx="9966960" cy="731520"/>
          </a:xfrm>
          <a:prstGeom prst="rect">
            <a:avLst/>
          </a:prstGeom>
          <a:noFill/>
        </p:spPr>
        <p:txBody>
          <a:bodyPr wrap="square">
            <a:spAutoFit/>
          </a:bodyPr>
          <a:lstStyle/>
          <a:p>
            <a:pPr algn="ctr">
              <a:spcAft>
                <a:spcPts val="800"/>
              </a:spcAft>
            </a:pPr>
            <a:r>
              <a:rPr sz="2000" b="0" i="1">
                <a:solidFill>
                  <a:srgbClr val="D9C29A"/>
                </a:solidFill>
                <a:latin typeface="Georgia"/>
              </a:rPr>
              <a:t>No family should do this alone.</a:t>
            </a:r>
          </a:p>
        </p:txBody>
      </p:sp>
      <p:sp>
        <p:nvSpPr>
          <p:cNvPr id="5" name="TextBox 4"/>
          <p:cNvSpPr txBox="1"/>
          <p:nvPr/>
        </p:nvSpPr>
        <p:spPr>
          <a:xfrm>
            <a:off x="1097280" y="5669280"/>
            <a:ext cx="9966960" cy="822960"/>
          </a:xfrm>
          <a:prstGeom prst="rect">
            <a:avLst/>
          </a:prstGeom>
          <a:noFill/>
        </p:spPr>
        <p:txBody>
          <a:bodyPr wrap="square">
            <a:spAutoFit/>
          </a:bodyPr>
          <a:lstStyle/>
          <a:p>
            <a:pPr algn="ctr">
              <a:spcAft>
                <a:spcPts val="800"/>
              </a:spcAft>
            </a:pPr>
            <a:r>
              <a:rPr sz="1300" b="0" i="0">
                <a:solidFill>
                  <a:srgbClr val="F3EAD3"/>
                </a:solidFill>
                <a:latin typeface="Georgia"/>
              </a:rPr>
              <a:t>Disclaimer: We do not provide refunds for services. There is NO guarantee of approvals. We are not legal attorneys.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