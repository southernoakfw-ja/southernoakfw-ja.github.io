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Tonight is for YOU — the parents and caregivers. You take care of everyone else. Tonight we talk about taking care of you, and why life insurance coverage matters for the person who gives the care. Keep it warm and simple. This is education, not a sales talk.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here. Most caregivers never stop to think about themselves. Ask them to think about one question tonight: if I could not care for my loved one tomorrow, what would happen? We will answer it step by step. No pressure, no sales talk.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gently. This is not to scare anyone. It is a plan, like a fire drill. The money from a policy can help pay for care and help the family keep going while they adjust.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it very plain. A policy is a written promise. The amount and rules are in the policy. Tonight is education only — no one has to decide anything tonight.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Living Benefits come from Accelerated Benefits Riders. The money is paid on a discounted basis and lowers the final amount. It is not long-term care insurance. Keep the honest lines: rules, limits, and waiting times apply, and it can affect taxes and public benefits — we always say to ask a tax person.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night. The caregiver IS the plan right now. Insurance turns 'me' into a real plan that still works if something happens to 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families think they must start big. They do not. Start where the budget fits. And be honest: if health changes, a person may not be able to get coverage later. Getting it while you can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clearly. This is the mistake we never want a family to make. The trust is usually the one named in the policy. Southern Oak does not set up trusts — an attorney does. We help families see the whole picture before they sign anything.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honest slide. Families trust us because we say the hard parts out loud. Everything is in the policy, and we go through it line by line in a free talk before anyone agrees to anything.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warm. Your talk and quote are free until you agree to a policy. If they want a talk, they can book on the website or send an email. Thank them for caring for their families — and for coming tonight.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everyone. Take questions. Remind them: the Dec 11 webinar is 'Turning 18: What Changes.' Registration is on the website. 20 spots.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E4A2E"/>
        </a:solidFill>
        <a:effectLst/>
      </p:bgPr>
    </p:bg>
    <p:spTree>
      <p:nvGrpSpPr>
        <p:cNvPr id="1" name=""/>
        <p:cNvGrpSpPr/>
        <p:nvPr/>
      </p:nvGrpSpPr>
      <p:grpSpPr/>
      <p:pic>
        <p:nvPicPr>
          <p:cNvPr id="2" name="Picture 1" descr="southern-oak-logo.png"/>
          <p:cNvPicPr>
            <a:picLocks noChangeAspect="1"/>
          </p:cNvPicPr>
          <p:nvPr/>
        </p:nvPicPr>
        <p:blipFill>
          <a:blip r:embed="rId2"/>
          <a:stretch>
            <a:fillRect/>
          </a:stretch>
        </p:blipFill>
        <p:spPr>
          <a:xfrm>
            <a:off x="4956048" y="502920"/>
            <a:ext cx="1425325" cy="1737360"/>
          </a:xfrm>
          <a:prstGeom prst="rect">
            <a:avLst/>
          </a:prstGeom>
        </p:spPr>
      </p:pic>
      <p:sp>
        <p:nvSpPr>
          <p:cNvPr id="3" name="TextBox 2"/>
          <p:cNvSpPr txBox="1"/>
          <p:nvPr/>
        </p:nvSpPr>
        <p:spPr>
          <a:xfrm>
            <a:off x="731520" y="2468880"/>
            <a:ext cx="10698480" cy="1737360"/>
          </a:xfrm>
          <a:prstGeom prst="rect">
            <a:avLst/>
          </a:prstGeom>
          <a:noFill/>
        </p:spPr>
        <p:txBody>
          <a:bodyPr wrap="square" anchor="t">
            <a:spAutoFit/>
          </a:bodyPr>
          <a:lstStyle/>
          <a:p>
            <a:pPr algn="ctr">
              <a:lnSpc>
                <a:spcPct val="115000"/>
              </a:lnSpc>
            </a:pPr>
            <a:r>
              <a:rPr sz="4300" b="1" i="0">
                <a:solidFill>
                  <a:srgbClr val="FFFFFF"/>
                </a:solidFill>
                <a:latin typeface="Georgia"/>
              </a:rPr>
              <a:t>Caregivers:</a:t>
            </a:r>
          </a:p>
          <a:p>
            <a:pPr algn="ctr">
              <a:lnSpc>
                <a:spcPct val="115000"/>
              </a:lnSpc>
            </a:pPr>
            <a:r>
              <a:rPr sz="4300" b="1" i="0">
                <a:solidFill>
                  <a:srgbClr val="FFFFFF"/>
                </a:solidFill>
                <a:latin typeface="Georgia"/>
              </a:rPr>
              <a:t>Why You Need Life Insurance Coverage</a:t>
            </a:r>
          </a:p>
        </p:txBody>
      </p:sp>
      <p:sp>
        <p:nvSpPr>
          <p:cNvPr id="4" name="TextBox 3"/>
          <p:cNvSpPr txBox="1"/>
          <p:nvPr/>
        </p:nvSpPr>
        <p:spPr>
          <a:xfrm>
            <a:off x="731520" y="4343400"/>
            <a:ext cx="10698480" cy="548640"/>
          </a:xfrm>
          <a:prstGeom prst="rect">
            <a:avLst/>
          </a:prstGeom>
          <a:noFill/>
        </p:spPr>
        <p:txBody>
          <a:bodyPr wrap="square" anchor="t">
            <a:spAutoFit/>
          </a:bodyPr>
          <a:lstStyle/>
          <a:p>
            <a:pPr algn="ctr">
              <a:lnSpc>
                <a:spcPct val="112000"/>
              </a:lnSpc>
            </a:pPr>
            <a:r>
              <a:rPr sz="2200" b="0" i="0">
                <a:solidFill>
                  <a:srgbClr val="E9DFC8"/>
                </a:solidFill>
                <a:latin typeface="Verdana"/>
              </a:rPr>
              <a:t>A Free Zoom Webinar for Family Caregivers</a:t>
            </a:r>
          </a:p>
        </p:txBody>
      </p:sp>
      <p:sp>
        <p:nvSpPr>
          <p:cNvPr id="5" name="TextBox 4"/>
          <p:cNvSpPr txBox="1"/>
          <p:nvPr/>
        </p:nvSpPr>
        <p:spPr>
          <a:xfrm>
            <a:off x="731520" y="5029200"/>
            <a:ext cx="10698480" cy="548640"/>
          </a:xfrm>
          <a:prstGeom prst="rect">
            <a:avLst/>
          </a:prstGeom>
          <a:noFill/>
        </p:spPr>
        <p:txBody>
          <a:bodyPr wrap="square" anchor="t">
            <a:spAutoFit/>
          </a:bodyPr>
          <a:lstStyle/>
          <a:p>
            <a:pPr algn="ctr">
              <a:lnSpc>
                <a:spcPct val="112000"/>
              </a:lnSpc>
            </a:pPr>
            <a:r>
              <a:rPr sz="2000" b="0" i="0">
                <a:solidFill>
                  <a:srgbClr val="FFFFFF"/>
                </a:solidFill>
                <a:latin typeface="Verdana"/>
              </a:rPr>
              <a:t>Friday, November 13, 2026  •  6:30–7:15 PM Central Time</a:t>
            </a:r>
          </a:p>
        </p:txBody>
      </p:sp>
      <p:sp>
        <p:nvSpPr>
          <p:cNvPr id="6" name="TextBox 5"/>
          <p:cNvSpPr txBox="1"/>
          <p:nvPr/>
        </p:nvSpPr>
        <p:spPr>
          <a:xfrm>
            <a:off x="731520" y="5806440"/>
            <a:ext cx="10698480" cy="457200"/>
          </a:xfrm>
          <a:prstGeom prst="rect">
            <a:avLst/>
          </a:prstGeom>
          <a:noFill/>
        </p:spPr>
        <p:txBody>
          <a:bodyPr wrap="square" anchor="t">
            <a:spAutoFit/>
          </a:bodyPr>
          <a:lstStyle/>
          <a:p>
            <a:pPr algn="ctr">
              <a:lnSpc>
                <a:spcPct val="112000"/>
              </a:lnSpc>
            </a:pPr>
            <a:r>
              <a:rPr sz="1700" b="0" i="0">
                <a:solidFill>
                  <a:srgbClr val="E9DFC8"/>
                </a:solidFill>
                <a:latin typeface="Verdana"/>
              </a:rPr>
              <a:t>Jessica Alvarez  •  Southern Oak Financial &amp; Wellness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50292"/>
          </a:xfrm>
          <a:prstGeom prst="rect">
            <a:avLst/>
          </a:prstGeom>
          <a:solidFill>
            <a:srgbClr val="C46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92640" cy="822960"/>
          </a:xfrm>
          <a:prstGeom prst="rect">
            <a:avLst/>
          </a:prstGeom>
          <a:noFill/>
        </p:spPr>
        <p:txBody>
          <a:bodyPr wrap="square" anchor="ctr">
            <a:spAutoFit/>
          </a:bodyPr>
          <a:lstStyle/>
          <a:p>
            <a:pPr algn="l">
              <a:lnSpc>
                <a:spcPct val="112000"/>
              </a:lnSpc>
            </a:pPr>
            <a:r>
              <a:rPr sz="3100" b="1" i="0">
                <a:solidFill>
                  <a:srgbClr val="FFFFFF"/>
                </a:solidFill>
                <a:latin typeface="Georgia"/>
              </a:rPr>
              <a:t>Tonight Is for You</a:t>
            </a:r>
          </a:p>
        </p:txBody>
      </p:sp>
      <p:pic>
        <p:nvPicPr>
          <p:cNvPr id="5" name="Picture 4"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6" name="TextBox 5"/>
          <p:cNvSpPr txBox="1"/>
          <p:nvPr/>
        </p:nvSpPr>
        <p:spPr>
          <a:xfrm>
            <a:off x="640080" y="1600200"/>
            <a:ext cx="10881360" cy="4572000"/>
          </a:xfrm>
          <a:prstGeom prst="rect">
            <a:avLst/>
          </a:prstGeom>
          <a:noFill/>
        </p:spPr>
        <p:txBody>
          <a:bodyPr wrap="square">
            <a:spAutoFit/>
          </a:bodyPr>
          <a:lstStyle/>
          <a:p>
            <a:pPr>
              <a:lnSpc>
                <a:spcPct val="115000"/>
              </a:lnSpc>
              <a:spcAft>
                <a:spcPts val="1200"/>
              </a:spcAft>
            </a:pPr>
            <a:r>
              <a:rPr sz="2300" b="1">
                <a:solidFill>
                  <a:srgbClr val="C46224"/>
                </a:solidFill>
                <a:latin typeface="Verdana"/>
              </a:rPr>
              <a:t>▸  </a:t>
            </a:r>
            <a:r>
              <a:rPr sz="2300">
                <a:solidFill>
                  <a:srgbClr val="2B2B26"/>
                </a:solidFill>
                <a:latin typeface="Verdana"/>
              </a:rPr>
              <a:t>You care for your child or loved one every day.</a:t>
            </a:r>
          </a:p>
          <a:p>
            <a:pPr>
              <a:lnSpc>
                <a:spcPct val="115000"/>
              </a:lnSpc>
              <a:spcAft>
                <a:spcPts val="1200"/>
              </a:spcAft>
            </a:pPr>
            <a:r>
              <a:rPr sz="2300" b="1">
                <a:solidFill>
                  <a:srgbClr val="C46224"/>
                </a:solidFill>
                <a:latin typeface="Verdana"/>
              </a:rPr>
              <a:t>▸  </a:t>
            </a:r>
            <a:r>
              <a:rPr sz="2300">
                <a:solidFill>
                  <a:srgbClr val="2B2B26"/>
                </a:solidFill>
                <a:latin typeface="Verdana"/>
              </a:rPr>
              <a:t>You give your time, your sleep, and your money.</a:t>
            </a:r>
          </a:p>
          <a:p>
            <a:pPr>
              <a:lnSpc>
                <a:spcPct val="115000"/>
              </a:lnSpc>
              <a:spcAft>
                <a:spcPts val="1200"/>
              </a:spcAft>
            </a:pPr>
            <a:r>
              <a:rPr sz="2300" b="1">
                <a:solidFill>
                  <a:srgbClr val="C46224"/>
                </a:solidFill>
                <a:latin typeface="Verdana"/>
              </a:rPr>
              <a:t>▸  </a:t>
            </a:r>
            <a:r>
              <a:rPr sz="2300">
                <a:solidFill>
                  <a:srgbClr val="2B2B26"/>
                </a:solidFill>
                <a:latin typeface="Verdana"/>
              </a:rPr>
              <a:t>But who takes care of things if something happens to YOU?</a:t>
            </a:r>
          </a:p>
          <a:p>
            <a:pPr>
              <a:lnSpc>
                <a:spcPct val="115000"/>
              </a:lnSpc>
              <a:spcAft>
                <a:spcPts val="1200"/>
              </a:spcAft>
            </a:pPr>
            <a:r>
              <a:rPr sz="2300" b="1">
                <a:solidFill>
                  <a:srgbClr val="C46224"/>
                </a:solidFill>
                <a:latin typeface="Verdana"/>
              </a:rPr>
              <a:t>▸  </a:t>
            </a:r>
            <a:r>
              <a:rPr sz="2300">
                <a:solidFill>
                  <a:srgbClr val="2B2B26"/>
                </a:solidFill>
                <a:latin typeface="Verdana"/>
              </a:rPr>
              <a:t>Tonight we talk about that — in plain, simple words.</a:t>
            </a:r>
          </a:p>
        </p:txBody>
      </p:sp>
      <p:sp>
        <p:nvSpPr>
          <p:cNvPr id="7" name="TextBox 6"/>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50292"/>
          </a:xfrm>
          <a:prstGeom prst="rect">
            <a:avLst/>
          </a:prstGeom>
          <a:solidFill>
            <a:srgbClr val="C46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92640" cy="822960"/>
          </a:xfrm>
          <a:prstGeom prst="rect">
            <a:avLst/>
          </a:prstGeom>
          <a:noFill/>
        </p:spPr>
        <p:txBody>
          <a:bodyPr wrap="square" anchor="ctr">
            <a:spAutoFit/>
          </a:bodyPr>
          <a:lstStyle/>
          <a:p>
            <a:pPr algn="l">
              <a:lnSpc>
                <a:spcPct val="112000"/>
              </a:lnSpc>
            </a:pPr>
            <a:r>
              <a:rPr sz="3100" b="1" i="0">
                <a:solidFill>
                  <a:srgbClr val="FFFFFF"/>
                </a:solidFill>
                <a:latin typeface="Georgia"/>
              </a:rPr>
              <a:t>The Hard Question</a:t>
            </a:r>
          </a:p>
        </p:txBody>
      </p:sp>
      <p:pic>
        <p:nvPicPr>
          <p:cNvPr id="5" name="Picture 4"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6" name="TextBox 5"/>
          <p:cNvSpPr txBox="1"/>
          <p:nvPr/>
        </p:nvSpPr>
        <p:spPr>
          <a:xfrm>
            <a:off x="640080" y="1600200"/>
            <a:ext cx="10881360" cy="4572000"/>
          </a:xfrm>
          <a:prstGeom prst="rect">
            <a:avLst/>
          </a:prstGeom>
          <a:noFill/>
        </p:spPr>
        <p:txBody>
          <a:bodyPr wrap="square">
            <a:spAutoFit/>
          </a:bodyPr>
          <a:lstStyle/>
          <a:p>
            <a:pPr>
              <a:lnSpc>
                <a:spcPct val="115000"/>
              </a:lnSpc>
              <a:spcAft>
                <a:spcPts val="1200"/>
              </a:spcAft>
            </a:pPr>
            <a:r>
              <a:rPr sz="2300" b="1">
                <a:solidFill>
                  <a:srgbClr val="C46224"/>
                </a:solidFill>
                <a:latin typeface="Verdana"/>
              </a:rPr>
              <a:t>▸  </a:t>
            </a:r>
            <a:r>
              <a:rPr sz="2300">
                <a:solidFill>
                  <a:srgbClr val="2B2B26"/>
                </a:solidFill>
                <a:latin typeface="Verdana"/>
              </a:rPr>
              <a:t>If you got very sick, hurt, or passed away — who would step in?</a:t>
            </a:r>
          </a:p>
          <a:p>
            <a:pPr>
              <a:lnSpc>
                <a:spcPct val="115000"/>
              </a:lnSpc>
              <a:spcAft>
                <a:spcPts val="1200"/>
              </a:spcAft>
            </a:pPr>
            <a:r>
              <a:rPr sz="2300" b="1">
                <a:solidFill>
                  <a:srgbClr val="C46224"/>
                </a:solidFill>
                <a:latin typeface="Verdana"/>
              </a:rPr>
              <a:t>▸  </a:t>
            </a:r>
            <a:r>
              <a:rPr sz="2300">
                <a:solidFill>
                  <a:srgbClr val="2B2B26"/>
                </a:solidFill>
                <a:latin typeface="Verdana"/>
              </a:rPr>
              <a:t>Who knows your child's medicine, doctors, and daily care?</a:t>
            </a:r>
          </a:p>
          <a:p>
            <a:pPr>
              <a:lnSpc>
                <a:spcPct val="115000"/>
              </a:lnSpc>
              <a:spcAft>
                <a:spcPts val="1200"/>
              </a:spcAft>
            </a:pPr>
            <a:r>
              <a:rPr sz="2300" b="1">
                <a:solidFill>
                  <a:srgbClr val="C46224"/>
                </a:solidFill>
                <a:latin typeface="Verdana"/>
              </a:rPr>
              <a:t>▸  </a:t>
            </a:r>
            <a:r>
              <a:rPr sz="2300">
                <a:solidFill>
                  <a:srgbClr val="2B2B26"/>
                </a:solidFill>
                <a:latin typeface="Verdana"/>
              </a:rPr>
              <a:t>Care like yours costs money. A new caregiver must be paid.</a:t>
            </a:r>
          </a:p>
          <a:p>
            <a:pPr>
              <a:lnSpc>
                <a:spcPct val="115000"/>
              </a:lnSpc>
              <a:spcAft>
                <a:spcPts val="1200"/>
              </a:spcAft>
            </a:pPr>
            <a:r>
              <a:rPr sz="2300" b="1">
                <a:solidFill>
                  <a:srgbClr val="C46224"/>
                </a:solidFill>
                <a:latin typeface="Verdana"/>
              </a:rPr>
              <a:t>▸  </a:t>
            </a:r>
            <a:r>
              <a:rPr sz="2300">
                <a:solidFill>
                  <a:srgbClr val="2B2B26"/>
                </a:solidFill>
                <a:latin typeface="Verdana"/>
              </a:rPr>
              <a:t>Life insurance is one way to make sure the money is there.</a:t>
            </a:r>
          </a:p>
        </p:txBody>
      </p:sp>
      <p:sp>
        <p:nvSpPr>
          <p:cNvPr id="7" name="TextBox 6"/>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50292"/>
          </a:xfrm>
          <a:prstGeom prst="rect">
            <a:avLst/>
          </a:prstGeom>
          <a:solidFill>
            <a:srgbClr val="C46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92640" cy="822960"/>
          </a:xfrm>
          <a:prstGeom prst="rect">
            <a:avLst/>
          </a:prstGeom>
          <a:noFill/>
        </p:spPr>
        <p:txBody>
          <a:bodyPr wrap="square" anchor="ctr">
            <a:spAutoFit/>
          </a:bodyPr>
          <a:lstStyle/>
          <a:p>
            <a:pPr algn="l">
              <a:lnSpc>
                <a:spcPct val="112000"/>
              </a:lnSpc>
            </a:pPr>
            <a:r>
              <a:rPr sz="3100" b="1" i="0">
                <a:solidFill>
                  <a:srgbClr val="FFFFFF"/>
                </a:solidFill>
                <a:latin typeface="Georgia"/>
              </a:rPr>
              <a:t>What Life Insurance Does</a:t>
            </a:r>
          </a:p>
        </p:txBody>
      </p:sp>
      <p:pic>
        <p:nvPicPr>
          <p:cNvPr id="5" name="Picture 4"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6" name="TextBox 5"/>
          <p:cNvSpPr txBox="1"/>
          <p:nvPr/>
        </p:nvSpPr>
        <p:spPr>
          <a:xfrm>
            <a:off x="640080" y="1600200"/>
            <a:ext cx="10881360" cy="4572000"/>
          </a:xfrm>
          <a:prstGeom prst="rect">
            <a:avLst/>
          </a:prstGeom>
          <a:noFill/>
        </p:spPr>
        <p:txBody>
          <a:bodyPr wrap="square">
            <a:spAutoFit/>
          </a:bodyPr>
          <a:lstStyle/>
          <a:p>
            <a:pPr>
              <a:lnSpc>
                <a:spcPct val="115000"/>
              </a:lnSpc>
              <a:spcAft>
                <a:spcPts val="1200"/>
              </a:spcAft>
            </a:pPr>
            <a:r>
              <a:rPr sz="2300" b="1">
                <a:solidFill>
                  <a:srgbClr val="C46224"/>
                </a:solidFill>
                <a:latin typeface="Verdana"/>
              </a:rPr>
              <a:t>▸  </a:t>
            </a:r>
            <a:r>
              <a:rPr sz="2300">
                <a:solidFill>
                  <a:srgbClr val="2B2B26"/>
                </a:solidFill>
                <a:latin typeface="Verdana"/>
              </a:rPr>
              <a:t>You pay a small amount each month.</a:t>
            </a:r>
          </a:p>
          <a:p>
            <a:pPr>
              <a:lnSpc>
                <a:spcPct val="115000"/>
              </a:lnSpc>
              <a:spcAft>
                <a:spcPts val="1200"/>
              </a:spcAft>
            </a:pPr>
            <a:r>
              <a:rPr sz="2300" b="1">
                <a:solidFill>
                  <a:srgbClr val="C46224"/>
                </a:solidFill>
                <a:latin typeface="Verdana"/>
              </a:rPr>
              <a:t>▸  </a:t>
            </a:r>
            <a:r>
              <a:rPr sz="2300">
                <a:solidFill>
                  <a:srgbClr val="2B2B26"/>
                </a:solidFill>
                <a:latin typeface="Verdana"/>
              </a:rPr>
              <a:t>If you pass away, the company pays money to your family.</a:t>
            </a:r>
          </a:p>
          <a:p>
            <a:pPr>
              <a:lnSpc>
                <a:spcPct val="115000"/>
              </a:lnSpc>
              <a:spcAft>
                <a:spcPts val="1200"/>
              </a:spcAft>
            </a:pPr>
            <a:r>
              <a:rPr sz="2300" b="1">
                <a:solidFill>
                  <a:srgbClr val="C46224"/>
                </a:solidFill>
                <a:latin typeface="Verdana"/>
              </a:rPr>
              <a:t>▸  </a:t>
            </a:r>
            <a:r>
              <a:rPr sz="2300">
                <a:solidFill>
                  <a:srgbClr val="2B2B26"/>
                </a:solidFill>
                <a:latin typeface="Verdana"/>
              </a:rPr>
              <a:t>Your family can use it for care, the home, bills, and daily life.</a:t>
            </a:r>
          </a:p>
          <a:p>
            <a:pPr>
              <a:lnSpc>
                <a:spcPct val="115000"/>
              </a:lnSpc>
              <a:spcAft>
                <a:spcPts val="1200"/>
              </a:spcAft>
            </a:pPr>
            <a:r>
              <a:rPr sz="2300" b="1">
                <a:solidFill>
                  <a:srgbClr val="C46224"/>
                </a:solidFill>
                <a:latin typeface="Verdana"/>
              </a:rPr>
              <a:t>▸  </a:t>
            </a:r>
            <a:r>
              <a:rPr sz="2300">
                <a:solidFill>
                  <a:srgbClr val="2B2B26"/>
                </a:solidFill>
                <a:latin typeface="Verdana"/>
              </a:rPr>
              <a:t>It is a promise, in writing, in a policy.</a:t>
            </a:r>
          </a:p>
        </p:txBody>
      </p:sp>
      <p:sp>
        <p:nvSpPr>
          <p:cNvPr id="7" name="TextBox 6"/>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50292"/>
          </a:xfrm>
          <a:prstGeom prst="rect">
            <a:avLst/>
          </a:prstGeom>
          <a:solidFill>
            <a:srgbClr val="C46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92640" cy="822960"/>
          </a:xfrm>
          <a:prstGeom prst="rect">
            <a:avLst/>
          </a:prstGeom>
          <a:noFill/>
        </p:spPr>
        <p:txBody>
          <a:bodyPr wrap="square" anchor="ctr">
            <a:spAutoFit/>
          </a:bodyPr>
          <a:lstStyle/>
          <a:p>
            <a:pPr algn="l">
              <a:lnSpc>
                <a:spcPct val="112000"/>
              </a:lnSpc>
            </a:pPr>
            <a:r>
              <a:rPr sz="3100" b="1" i="0">
                <a:solidFill>
                  <a:srgbClr val="FFFFFF"/>
                </a:solidFill>
                <a:latin typeface="Georgia"/>
              </a:rPr>
              <a:t>Living Benefits: Help While You Are Living</a:t>
            </a:r>
          </a:p>
        </p:txBody>
      </p:sp>
      <p:pic>
        <p:nvPicPr>
          <p:cNvPr id="5" name="Picture 4"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6" name="TextBox 5"/>
          <p:cNvSpPr txBox="1"/>
          <p:nvPr/>
        </p:nvSpPr>
        <p:spPr>
          <a:xfrm>
            <a:off x="640080" y="1600200"/>
            <a:ext cx="10881360" cy="4572000"/>
          </a:xfrm>
          <a:prstGeom prst="rect">
            <a:avLst/>
          </a:prstGeom>
          <a:noFill/>
        </p:spPr>
        <p:txBody>
          <a:bodyPr wrap="square">
            <a:spAutoFit/>
          </a:bodyPr>
          <a:lstStyle/>
          <a:p>
            <a:pPr>
              <a:lnSpc>
                <a:spcPct val="115000"/>
              </a:lnSpc>
              <a:spcAft>
                <a:spcPts val="1200"/>
              </a:spcAft>
            </a:pPr>
            <a:r>
              <a:rPr sz="2300" b="1">
                <a:solidFill>
                  <a:srgbClr val="C46224"/>
                </a:solidFill>
                <a:latin typeface="Verdana"/>
              </a:rPr>
              <a:t>▸  </a:t>
            </a:r>
            <a:r>
              <a:rPr sz="2300">
                <a:solidFill>
                  <a:srgbClr val="2B2B26"/>
                </a:solidFill>
                <a:latin typeface="Verdana"/>
              </a:rPr>
              <a:t>Many policies from National Life Group have Living Benefits.</a:t>
            </a:r>
          </a:p>
          <a:p>
            <a:pPr>
              <a:lnSpc>
                <a:spcPct val="115000"/>
              </a:lnSpc>
              <a:spcAft>
                <a:spcPts val="1200"/>
              </a:spcAft>
            </a:pPr>
            <a:r>
              <a:rPr sz="2300" b="1">
                <a:solidFill>
                  <a:srgbClr val="C46224"/>
                </a:solidFill>
                <a:latin typeface="Verdana"/>
              </a:rPr>
              <a:t>▸  </a:t>
            </a:r>
            <a:r>
              <a:rPr sz="2300">
                <a:solidFill>
                  <a:srgbClr val="2B2B26"/>
                </a:solidFill>
                <a:latin typeface="Verdana"/>
              </a:rPr>
              <a:t>If you get very sick or hurt, you may be able to use part of the money early.</a:t>
            </a:r>
          </a:p>
          <a:p>
            <a:pPr>
              <a:lnSpc>
                <a:spcPct val="115000"/>
              </a:lnSpc>
              <a:spcAft>
                <a:spcPts val="1200"/>
              </a:spcAft>
            </a:pPr>
            <a:r>
              <a:rPr sz="2300" b="1">
                <a:solidFill>
                  <a:srgbClr val="C46224"/>
                </a:solidFill>
                <a:latin typeface="Verdana"/>
              </a:rPr>
              <a:t>▸  </a:t>
            </a:r>
            <a:r>
              <a:rPr sz="2300">
                <a:solidFill>
                  <a:srgbClr val="2B2B26"/>
                </a:solidFill>
                <a:latin typeface="Verdana"/>
              </a:rPr>
              <a:t>That money can help with bills and care while you get better.</a:t>
            </a:r>
          </a:p>
          <a:p>
            <a:pPr>
              <a:lnSpc>
                <a:spcPct val="115000"/>
              </a:lnSpc>
              <a:spcAft>
                <a:spcPts val="1200"/>
              </a:spcAft>
            </a:pPr>
            <a:r>
              <a:rPr sz="2300" b="1">
                <a:solidFill>
                  <a:srgbClr val="C46224"/>
                </a:solidFill>
                <a:latin typeface="Verdana"/>
              </a:rPr>
              <a:t>▸  </a:t>
            </a:r>
            <a:r>
              <a:rPr sz="2300">
                <a:solidFill>
                  <a:srgbClr val="2B2B26"/>
                </a:solidFill>
                <a:latin typeface="Verdana"/>
              </a:rPr>
              <a:t>Rules apply — we read them together, in the policy, before you decide.</a:t>
            </a:r>
          </a:p>
        </p:txBody>
      </p:sp>
      <p:sp>
        <p:nvSpPr>
          <p:cNvPr id="7" name="TextBox 6"/>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50292"/>
          </a:xfrm>
          <a:prstGeom prst="rect">
            <a:avLst/>
          </a:prstGeom>
          <a:solidFill>
            <a:srgbClr val="C46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92640" cy="822960"/>
          </a:xfrm>
          <a:prstGeom prst="rect">
            <a:avLst/>
          </a:prstGeom>
          <a:noFill/>
        </p:spPr>
        <p:txBody>
          <a:bodyPr wrap="square" anchor="ctr">
            <a:spAutoFit/>
          </a:bodyPr>
          <a:lstStyle/>
          <a:p>
            <a:pPr algn="l">
              <a:lnSpc>
                <a:spcPct val="112000"/>
              </a:lnSpc>
            </a:pPr>
            <a:r>
              <a:rPr sz="3100" b="1" i="0">
                <a:solidFill>
                  <a:srgbClr val="FFFFFF"/>
                </a:solidFill>
                <a:latin typeface="Georgia"/>
              </a:rPr>
              <a:t>Why Caregivers Need It Most</a:t>
            </a:r>
          </a:p>
        </p:txBody>
      </p:sp>
      <p:pic>
        <p:nvPicPr>
          <p:cNvPr id="5" name="Picture 4"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6" name="TextBox 5"/>
          <p:cNvSpPr txBox="1"/>
          <p:nvPr/>
        </p:nvSpPr>
        <p:spPr>
          <a:xfrm>
            <a:off x="640080" y="1600200"/>
            <a:ext cx="10881360" cy="4572000"/>
          </a:xfrm>
          <a:prstGeom prst="rect">
            <a:avLst/>
          </a:prstGeom>
          <a:noFill/>
        </p:spPr>
        <p:txBody>
          <a:bodyPr wrap="square">
            <a:spAutoFit/>
          </a:bodyPr>
          <a:lstStyle/>
          <a:p>
            <a:pPr>
              <a:lnSpc>
                <a:spcPct val="115000"/>
              </a:lnSpc>
              <a:spcAft>
                <a:spcPts val="1200"/>
              </a:spcAft>
            </a:pPr>
            <a:r>
              <a:rPr sz="2300" b="1">
                <a:solidFill>
                  <a:srgbClr val="C46224"/>
                </a:solidFill>
                <a:latin typeface="Verdana"/>
              </a:rPr>
              <a:t>▸  </a:t>
            </a:r>
            <a:r>
              <a:rPr sz="2300">
                <a:solidFill>
                  <a:srgbClr val="2B2B26"/>
                </a:solidFill>
                <a:latin typeface="Verdana"/>
              </a:rPr>
              <a:t>Your family counts on you every single day.</a:t>
            </a:r>
          </a:p>
          <a:p>
            <a:pPr>
              <a:lnSpc>
                <a:spcPct val="115000"/>
              </a:lnSpc>
              <a:spcAft>
                <a:spcPts val="1200"/>
              </a:spcAft>
            </a:pPr>
            <a:r>
              <a:rPr sz="2300" b="1">
                <a:solidFill>
                  <a:srgbClr val="C46224"/>
                </a:solidFill>
                <a:latin typeface="Verdana"/>
              </a:rPr>
              <a:t>▸  </a:t>
            </a:r>
            <a:r>
              <a:rPr sz="2300">
                <a:solidFill>
                  <a:srgbClr val="2B2B26"/>
                </a:solidFill>
                <a:latin typeface="Verdana"/>
              </a:rPr>
              <a:t>If you are gone, your loved one still needs the same care.</a:t>
            </a:r>
          </a:p>
          <a:p>
            <a:pPr>
              <a:lnSpc>
                <a:spcPct val="115000"/>
              </a:lnSpc>
              <a:spcAft>
                <a:spcPts val="1200"/>
              </a:spcAft>
            </a:pPr>
            <a:r>
              <a:rPr sz="2300" b="1">
                <a:solidFill>
                  <a:srgbClr val="C46224"/>
                </a:solidFill>
                <a:latin typeface="Verdana"/>
              </a:rPr>
              <a:t>▸  </a:t>
            </a:r>
            <a:r>
              <a:rPr sz="2300">
                <a:solidFill>
                  <a:srgbClr val="2B2B26"/>
                </a:solidFill>
                <a:latin typeface="Verdana"/>
              </a:rPr>
              <a:t>Coverage helps pay the people who would take over your care work.</a:t>
            </a:r>
          </a:p>
          <a:p>
            <a:pPr>
              <a:lnSpc>
                <a:spcPct val="115000"/>
              </a:lnSpc>
              <a:spcAft>
                <a:spcPts val="1200"/>
              </a:spcAft>
            </a:pPr>
            <a:r>
              <a:rPr sz="2300" b="1">
                <a:solidFill>
                  <a:srgbClr val="C46224"/>
                </a:solidFill>
                <a:latin typeface="Verdana"/>
              </a:rPr>
              <a:t>▸  </a:t>
            </a:r>
            <a:r>
              <a:rPr sz="2300">
                <a:solidFill>
                  <a:srgbClr val="2B2B26"/>
                </a:solidFill>
                <a:latin typeface="Verdana"/>
              </a:rPr>
              <a:t>It gives your family time — time to grieve, and time to plan.</a:t>
            </a:r>
          </a:p>
        </p:txBody>
      </p:sp>
      <p:sp>
        <p:nvSpPr>
          <p:cNvPr id="7" name="TextBox 6"/>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50292"/>
          </a:xfrm>
          <a:prstGeom prst="rect">
            <a:avLst/>
          </a:prstGeom>
          <a:solidFill>
            <a:srgbClr val="C46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92640" cy="822960"/>
          </a:xfrm>
          <a:prstGeom prst="rect">
            <a:avLst/>
          </a:prstGeom>
          <a:noFill/>
        </p:spPr>
        <p:txBody>
          <a:bodyPr wrap="square" anchor="ctr">
            <a:spAutoFit/>
          </a:bodyPr>
          <a:lstStyle/>
          <a:p>
            <a:pPr algn="l">
              <a:lnSpc>
                <a:spcPct val="112000"/>
              </a:lnSpc>
            </a:pPr>
            <a:r>
              <a:rPr sz="3100" b="1" i="0">
                <a:solidFill>
                  <a:srgbClr val="FFFFFF"/>
                </a:solidFill>
                <a:latin typeface="Georgia"/>
              </a:rPr>
              <a:t>Start Small — Start Now</a:t>
            </a:r>
          </a:p>
        </p:txBody>
      </p:sp>
      <p:pic>
        <p:nvPicPr>
          <p:cNvPr id="5" name="Picture 4"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6" name="TextBox 5"/>
          <p:cNvSpPr txBox="1"/>
          <p:nvPr/>
        </p:nvSpPr>
        <p:spPr>
          <a:xfrm>
            <a:off x="640080" y="1600200"/>
            <a:ext cx="10881360" cy="4572000"/>
          </a:xfrm>
          <a:prstGeom prst="rect">
            <a:avLst/>
          </a:prstGeom>
          <a:noFill/>
        </p:spPr>
        <p:txBody>
          <a:bodyPr wrap="square">
            <a:spAutoFit/>
          </a:bodyPr>
          <a:lstStyle/>
          <a:p>
            <a:pPr>
              <a:lnSpc>
                <a:spcPct val="115000"/>
              </a:lnSpc>
              <a:spcAft>
                <a:spcPts val="1200"/>
              </a:spcAft>
            </a:pPr>
            <a:r>
              <a:rPr sz="2300" b="1">
                <a:solidFill>
                  <a:srgbClr val="C46224"/>
                </a:solidFill>
                <a:latin typeface="Verdana"/>
              </a:rPr>
              <a:t>▸  </a:t>
            </a:r>
            <a:r>
              <a:rPr sz="2300">
                <a:solidFill>
                  <a:srgbClr val="2B2B26"/>
                </a:solidFill>
                <a:latin typeface="Verdana"/>
              </a:rPr>
              <a:t>You do not need a big policy to start.</a:t>
            </a:r>
          </a:p>
          <a:p>
            <a:pPr>
              <a:lnSpc>
                <a:spcPct val="115000"/>
              </a:lnSpc>
              <a:spcAft>
                <a:spcPts val="1200"/>
              </a:spcAft>
            </a:pPr>
            <a:r>
              <a:rPr sz="2300" b="1">
                <a:solidFill>
                  <a:srgbClr val="C46224"/>
                </a:solidFill>
                <a:latin typeface="Verdana"/>
              </a:rPr>
              <a:t>▸  </a:t>
            </a:r>
            <a:r>
              <a:rPr sz="2300">
                <a:solidFill>
                  <a:srgbClr val="2B2B26"/>
                </a:solidFill>
                <a:latin typeface="Verdana"/>
              </a:rPr>
              <a:t>A small policy is better than no policy.</a:t>
            </a:r>
          </a:p>
          <a:p>
            <a:pPr>
              <a:lnSpc>
                <a:spcPct val="115000"/>
              </a:lnSpc>
              <a:spcAft>
                <a:spcPts val="1200"/>
              </a:spcAft>
            </a:pPr>
            <a:r>
              <a:rPr sz="2300" b="1">
                <a:solidFill>
                  <a:srgbClr val="C46224"/>
                </a:solidFill>
                <a:latin typeface="Verdana"/>
              </a:rPr>
              <a:t>▸  </a:t>
            </a:r>
            <a:r>
              <a:rPr sz="2300">
                <a:solidFill>
                  <a:srgbClr val="2B2B26"/>
                </a:solidFill>
                <a:latin typeface="Verdana"/>
              </a:rPr>
              <a:t>Coverage costs less when you are young and healthy.</a:t>
            </a:r>
          </a:p>
          <a:p>
            <a:pPr>
              <a:lnSpc>
                <a:spcPct val="115000"/>
              </a:lnSpc>
              <a:spcAft>
                <a:spcPts val="1200"/>
              </a:spcAft>
            </a:pPr>
            <a:r>
              <a:rPr sz="2300" b="1">
                <a:solidFill>
                  <a:srgbClr val="C46224"/>
                </a:solidFill>
                <a:latin typeface="Verdana"/>
              </a:rPr>
              <a:t>▸  </a:t>
            </a:r>
            <a:r>
              <a:rPr sz="2300">
                <a:solidFill>
                  <a:srgbClr val="2B2B26"/>
                </a:solidFill>
                <a:latin typeface="Verdana"/>
              </a:rPr>
              <a:t>Waiting can cost more — or it can be too late to get it.</a:t>
            </a:r>
          </a:p>
        </p:txBody>
      </p:sp>
      <p:sp>
        <p:nvSpPr>
          <p:cNvPr id="7" name="TextBox 6"/>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50292"/>
          </a:xfrm>
          <a:prstGeom prst="rect">
            <a:avLst/>
          </a:prstGeom>
          <a:solidFill>
            <a:srgbClr val="C46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92640" cy="822960"/>
          </a:xfrm>
          <a:prstGeom prst="rect">
            <a:avLst/>
          </a:prstGeom>
          <a:noFill/>
        </p:spPr>
        <p:txBody>
          <a:bodyPr wrap="square" anchor="ctr">
            <a:spAutoFit/>
          </a:bodyPr>
          <a:lstStyle/>
          <a:p>
            <a:pPr algn="l">
              <a:lnSpc>
                <a:spcPct val="112000"/>
              </a:lnSpc>
            </a:pPr>
            <a:r>
              <a:rPr sz="3100" b="1" i="0">
                <a:solidFill>
                  <a:srgbClr val="FFFFFF"/>
                </a:solidFill>
                <a:latin typeface="Georgia"/>
              </a:rPr>
              <a:t>One Very Important Rule</a:t>
            </a:r>
          </a:p>
        </p:txBody>
      </p:sp>
      <p:pic>
        <p:nvPicPr>
          <p:cNvPr id="5" name="Picture 4"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6" name="TextBox 5"/>
          <p:cNvSpPr txBox="1"/>
          <p:nvPr/>
        </p:nvSpPr>
        <p:spPr>
          <a:xfrm>
            <a:off x="640080" y="1600200"/>
            <a:ext cx="10881360" cy="4572000"/>
          </a:xfrm>
          <a:prstGeom prst="rect">
            <a:avLst/>
          </a:prstGeom>
          <a:noFill/>
        </p:spPr>
        <p:txBody>
          <a:bodyPr wrap="square">
            <a:spAutoFit/>
          </a:bodyPr>
          <a:lstStyle/>
          <a:p>
            <a:pPr>
              <a:lnSpc>
                <a:spcPct val="115000"/>
              </a:lnSpc>
              <a:spcAft>
                <a:spcPts val="1200"/>
              </a:spcAft>
            </a:pPr>
            <a:r>
              <a:rPr sz="2300" b="1">
                <a:solidFill>
                  <a:srgbClr val="C46224"/>
                </a:solidFill>
                <a:latin typeface="Verdana"/>
              </a:rPr>
              <a:t>▸  </a:t>
            </a:r>
            <a:r>
              <a:rPr sz="2300">
                <a:solidFill>
                  <a:srgbClr val="2B2B26"/>
                </a:solidFill>
                <a:latin typeface="Verdana"/>
              </a:rPr>
              <a:t>Do NOT name a child who gets SSI or Medicaid as the one who gets the money.</a:t>
            </a:r>
          </a:p>
          <a:p>
            <a:pPr>
              <a:lnSpc>
                <a:spcPct val="115000"/>
              </a:lnSpc>
              <a:spcAft>
                <a:spcPts val="1200"/>
              </a:spcAft>
            </a:pPr>
            <a:r>
              <a:rPr sz="2300" b="1">
                <a:solidFill>
                  <a:srgbClr val="C46224"/>
                </a:solidFill>
                <a:latin typeface="Verdana"/>
              </a:rPr>
              <a:t>▸  </a:t>
            </a:r>
            <a:r>
              <a:rPr sz="2300">
                <a:solidFill>
                  <a:srgbClr val="2B2B26"/>
                </a:solidFill>
                <a:latin typeface="Verdana"/>
              </a:rPr>
              <a:t>That money can stop your child's benefits.</a:t>
            </a:r>
          </a:p>
          <a:p>
            <a:pPr>
              <a:lnSpc>
                <a:spcPct val="115000"/>
              </a:lnSpc>
              <a:spcAft>
                <a:spcPts val="1200"/>
              </a:spcAft>
            </a:pPr>
            <a:r>
              <a:rPr sz="2300" b="1">
                <a:solidFill>
                  <a:srgbClr val="C46224"/>
                </a:solidFill>
                <a:latin typeface="Verdana"/>
              </a:rPr>
              <a:t>▸  </a:t>
            </a:r>
            <a:r>
              <a:rPr sz="2300">
                <a:solidFill>
                  <a:srgbClr val="2B2B26"/>
                </a:solidFill>
                <a:latin typeface="Verdana"/>
              </a:rPr>
              <a:t>Most families use a Special Needs Trust instead.</a:t>
            </a:r>
          </a:p>
          <a:p>
            <a:pPr>
              <a:lnSpc>
                <a:spcPct val="115000"/>
              </a:lnSpc>
              <a:spcAft>
                <a:spcPts val="1200"/>
              </a:spcAft>
            </a:pPr>
            <a:r>
              <a:rPr sz="2300" b="1">
                <a:solidFill>
                  <a:srgbClr val="C46224"/>
                </a:solidFill>
                <a:latin typeface="Verdana"/>
              </a:rPr>
              <a:t>▸  </a:t>
            </a:r>
            <a:r>
              <a:rPr sz="2300">
                <a:solidFill>
                  <a:srgbClr val="2B2B26"/>
                </a:solidFill>
                <a:latin typeface="Verdana"/>
              </a:rPr>
              <a:t>An attorney sets up the trust. We can point you to the right first step.</a:t>
            </a:r>
          </a:p>
        </p:txBody>
      </p:sp>
      <p:sp>
        <p:nvSpPr>
          <p:cNvPr id="7" name="TextBox 6"/>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50292"/>
          </a:xfrm>
          <a:prstGeom prst="rect">
            <a:avLst/>
          </a:prstGeom>
          <a:solidFill>
            <a:srgbClr val="C46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92640" cy="822960"/>
          </a:xfrm>
          <a:prstGeom prst="rect">
            <a:avLst/>
          </a:prstGeom>
          <a:noFill/>
        </p:spPr>
        <p:txBody>
          <a:bodyPr wrap="square" anchor="ctr">
            <a:spAutoFit/>
          </a:bodyPr>
          <a:lstStyle/>
          <a:p>
            <a:pPr algn="l">
              <a:lnSpc>
                <a:spcPct val="112000"/>
              </a:lnSpc>
            </a:pPr>
            <a:r>
              <a:rPr sz="3100" b="1" i="0">
                <a:solidFill>
                  <a:srgbClr val="FFFFFF"/>
                </a:solidFill>
                <a:latin typeface="Georgia"/>
              </a:rPr>
              <a:t>What It Does Not Do</a:t>
            </a:r>
          </a:p>
        </p:txBody>
      </p:sp>
      <p:pic>
        <p:nvPicPr>
          <p:cNvPr id="5" name="Picture 4"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6" name="TextBox 5"/>
          <p:cNvSpPr txBox="1"/>
          <p:nvPr/>
        </p:nvSpPr>
        <p:spPr>
          <a:xfrm>
            <a:off x="640080" y="1600200"/>
            <a:ext cx="10881360" cy="4572000"/>
          </a:xfrm>
          <a:prstGeom prst="rect">
            <a:avLst/>
          </a:prstGeom>
          <a:noFill/>
        </p:spPr>
        <p:txBody>
          <a:bodyPr wrap="square">
            <a:spAutoFit/>
          </a:bodyPr>
          <a:lstStyle/>
          <a:p>
            <a:pPr>
              <a:lnSpc>
                <a:spcPct val="115000"/>
              </a:lnSpc>
              <a:spcAft>
                <a:spcPts val="1200"/>
              </a:spcAft>
            </a:pPr>
            <a:r>
              <a:rPr sz="2300" b="1">
                <a:solidFill>
                  <a:srgbClr val="C46224"/>
                </a:solidFill>
                <a:latin typeface="Verdana"/>
              </a:rPr>
              <a:t>▸  </a:t>
            </a:r>
            <a:r>
              <a:rPr sz="2300">
                <a:solidFill>
                  <a:srgbClr val="2B2B26"/>
                </a:solidFill>
                <a:latin typeface="Verdana"/>
              </a:rPr>
              <a:t>It does not promise you will be approved. The company decides.</a:t>
            </a:r>
          </a:p>
          <a:p>
            <a:pPr>
              <a:lnSpc>
                <a:spcPct val="115000"/>
              </a:lnSpc>
              <a:spcAft>
                <a:spcPts val="1200"/>
              </a:spcAft>
            </a:pPr>
            <a:r>
              <a:rPr sz="2300" b="1">
                <a:solidFill>
                  <a:srgbClr val="C46224"/>
                </a:solidFill>
                <a:latin typeface="Verdana"/>
              </a:rPr>
              <a:t>▸  </a:t>
            </a:r>
            <a:r>
              <a:rPr sz="2300">
                <a:solidFill>
                  <a:srgbClr val="2B2B26"/>
                </a:solidFill>
                <a:latin typeface="Verdana"/>
              </a:rPr>
              <a:t>It is not a bank account, and it is not long-term care insurance.</a:t>
            </a:r>
          </a:p>
          <a:p>
            <a:pPr>
              <a:lnSpc>
                <a:spcPct val="115000"/>
              </a:lnSpc>
              <a:spcAft>
                <a:spcPts val="1200"/>
              </a:spcAft>
            </a:pPr>
            <a:r>
              <a:rPr sz="2300" b="1">
                <a:solidFill>
                  <a:srgbClr val="C46224"/>
                </a:solidFill>
                <a:latin typeface="Verdana"/>
              </a:rPr>
              <a:t>▸  </a:t>
            </a:r>
            <a:r>
              <a:rPr sz="2300">
                <a:solidFill>
                  <a:srgbClr val="2B2B26"/>
                </a:solidFill>
                <a:latin typeface="Verdana"/>
              </a:rPr>
              <a:t>Using Living Benefits lowers the money left at the end.</a:t>
            </a:r>
          </a:p>
          <a:p>
            <a:pPr>
              <a:lnSpc>
                <a:spcPct val="115000"/>
              </a:lnSpc>
              <a:spcAft>
                <a:spcPts val="1200"/>
              </a:spcAft>
            </a:pPr>
            <a:r>
              <a:rPr sz="2300" b="1">
                <a:solidFill>
                  <a:srgbClr val="C46224"/>
                </a:solidFill>
                <a:latin typeface="Verdana"/>
              </a:rPr>
              <a:t>▸  </a:t>
            </a:r>
            <a:r>
              <a:rPr sz="2300">
                <a:solidFill>
                  <a:srgbClr val="2B2B26"/>
                </a:solidFill>
                <a:latin typeface="Verdana"/>
              </a:rPr>
              <a:t>We read the real rules with you — no surprises, no pressure.</a:t>
            </a:r>
          </a:p>
        </p:txBody>
      </p:sp>
      <p:sp>
        <p:nvSpPr>
          <p:cNvPr id="7" name="TextBox 6"/>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78992"/>
            <a:ext cx="12191695" cy="50292"/>
          </a:xfrm>
          <a:prstGeom prst="rect">
            <a:avLst/>
          </a:prstGeom>
          <a:solidFill>
            <a:srgbClr val="C46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6304"/>
            <a:ext cx="9692640" cy="822960"/>
          </a:xfrm>
          <a:prstGeom prst="rect">
            <a:avLst/>
          </a:prstGeom>
          <a:noFill/>
        </p:spPr>
        <p:txBody>
          <a:bodyPr wrap="square" anchor="ctr">
            <a:spAutoFit/>
          </a:bodyPr>
          <a:lstStyle/>
          <a:p>
            <a:pPr algn="l">
              <a:lnSpc>
                <a:spcPct val="112000"/>
              </a:lnSpc>
            </a:pPr>
            <a:r>
              <a:rPr sz="3100" b="1" i="0">
                <a:solidFill>
                  <a:srgbClr val="FFFFFF"/>
                </a:solidFill>
                <a:latin typeface="Georgia"/>
              </a:rPr>
              <a:t>Your Free Talk</a:t>
            </a:r>
          </a:p>
        </p:txBody>
      </p:sp>
      <p:pic>
        <p:nvPicPr>
          <p:cNvPr id="5" name="Picture 4"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6" name="TextBox 5"/>
          <p:cNvSpPr txBox="1"/>
          <p:nvPr/>
        </p:nvSpPr>
        <p:spPr>
          <a:xfrm>
            <a:off x="640080" y="1600200"/>
            <a:ext cx="10881360" cy="3108960"/>
          </a:xfrm>
          <a:prstGeom prst="rect">
            <a:avLst/>
          </a:prstGeom>
          <a:noFill/>
        </p:spPr>
        <p:txBody>
          <a:bodyPr wrap="square">
            <a:spAutoFit/>
          </a:bodyPr>
          <a:lstStyle/>
          <a:p>
            <a:pPr>
              <a:lnSpc>
                <a:spcPct val="115000"/>
              </a:lnSpc>
              <a:spcAft>
                <a:spcPts val="1200"/>
              </a:spcAft>
            </a:pPr>
            <a:r>
              <a:rPr sz="2300" b="1">
                <a:solidFill>
                  <a:srgbClr val="C46224"/>
                </a:solidFill>
                <a:latin typeface="Verdana"/>
              </a:rPr>
              <a:t>▸  </a:t>
            </a:r>
            <a:r>
              <a:rPr sz="2300">
                <a:solidFill>
                  <a:srgbClr val="2B2B26"/>
                </a:solidFill>
                <a:latin typeface="Verdana"/>
              </a:rPr>
              <a:t>Your life insurance talk and your quote are FREE.</a:t>
            </a:r>
          </a:p>
          <a:p>
            <a:pPr>
              <a:lnSpc>
                <a:spcPct val="115000"/>
              </a:lnSpc>
              <a:spcAft>
                <a:spcPts val="1200"/>
              </a:spcAft>
            </a:pPr>
            <a:r>
              <a:rPr sz="2300" b="1">
                <a:solidFill>
                  <a:srgbClr val="C46224"/>
                </a:solidFill>
                <a:latin typeface="Verdana"/>
              </a:rPr>
              <a:t>▸  </a:t>
            </a:r>
            <a:r>
              <a:rPr sz="2300">
                <a:solidFill>
                  <a:srgbClr val="2B2B26"/>
                </a:solidFill>
                <a:latin typeface="Verdana"/>
              </a:rPr>
              <a:t>You pay only if you say yes to a policy.</a:t>
            </a:r>
          </a:p>
          <a:p>
            <a:pPr>
              <a:lnSpc>
                <a:spcPct val="115000"/>
              </a:lnSpc>
              <a:spcAft>
                <a:spcPts val="1200"/>
              </a:spcAft>
            </a:pPr>
            <a:r>
              <a:rPr sz="2300" b="1">
                <a:solidFill>
                  <a:srgbClr val="C46224"/>
                </a:solidFill>
                <a:latin typeface="Verdana"/>
              </a:rPr>
              <a:t>▸  </a:t>
            </a:r>
            <a:r>
              <a:rPr sz="2300">
                <a:solidFill>
                  <a:srgbClr val="2B2B26"/>
                </a:solidFill>
                <a:latin typeface="Verdana"/>
              </a:rPr>
              <a:t>We go at your pace. No pressure, ever.</a:t>
            </a:r>
          </a:p>
          <a:p>
            <a:pPr>
              <a:lnSpc>
                <a:spcPct val="115000"/>
              </a:lnSpc>
              <a:spcAft>
                <a:spcPts val="1200"/>
              </a:spcAft>
            </a:pPr>
            <a:r>
              <a:rPr sz="2300" b="1">
                <a:solidFill>
                  <a:srgbClr val="C46224"/>
                </a:solidFill>
                <a:latin typeface="Verdana"/>
              </a:rPr>
              <a:t>▸  </a:t>
            </a:r>
            <a:r>
              <a:rPr sz="2300">
                <a:solidFill>
                  <a:srgbClr val="2B2B26"/>
                </a:solidFill>
                <a:latin typeface="Verdana"/>
              </a:rPr>
              <a:t>Book at southernoakfw.org — or email southernoakfw@gmail.com.</a:t>
            </a:r>
          </a:p>
        </p:txBody>
      </p:sp>
      <p:sp>
        <p:nvSpPr>
          <p:cNvPr id="7" name="Rectangle 6"/>
          <p:cNvSpPr/>
          <p:nvPr/>
        </p:nvSpPr>
        <p:spPr>
          <a:xfrm>
            <a:off x="640080" y="4709160"/>
            <a:ext cx="10881360" cy="1325880"/>
          </a:xfrm>
          <a:prstGeom prst="rect">
            <a:avLst/>
          </a:prstGeom>
          <a:solidFill>
            <a:srgbClr val="FFFFFF"/>
          </a:solidFill>
          <a:ln w="12700">
            <a:solidFill>
              <a:srgbClr val="E9DF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fa-logo-trim.png"/>
          <p:cNvPicPr>
            <a:picLocks noChangeAspect="1"/>
          </p:cNvPicPr>
          <p:nvPr/>
        </p:nvPicPr>
        <p:blipFill>
          <a:blip r:embed="rId3"/>
          <a:stretch>
            <a:fillRect/>
          </a:stretch>
        </p:blipFill>
        <p:spPr>
          <a:xfrm>
            <a:off x="1463040" y="5029200"/>
            <a:ext cx="2568844" cy="685800"/>
          </a:xfrm>
          <a:prstGeom prst="rect">
            <a:avLst/>
          </a:prstGeom>
        </p:spPr>
      </p:pic>
      <p:pic>
        <p:nvPicPr>
          <p:cNvPr id="9" name="Picture 8" descr="nlg-logo-trim.png"/>
          <p:cNvPicPr>
            <a:picLocks noChangeAspect="1"/>
          </p:cNvPicPr>
          <p:nvPr/>
        </p:nvPicPr>
        <p:blipFill>
          <a:blip r:embed="rId4"/>
          <a:stretch>
            <a:fillRect/>
          </a:stretch>
        </p:blipFill>
        <p:spPr>
          <a:xfrm>
            <a:off x="5577840" y="5029200"/>
            <a:ext cx="2617092" cy="685800"/>
          </a:xfrm>
          <a:prstGeom prst="rect">
            <a:avLst/>
          </a:prstGeom>
        </p:spPr>
      </p:pic>
      <p:sp>
        <p:nvSpPr>
          <p:cNvPr id="10" name="TextBox 9"/>
          <p:cNvSpPr txBox="1"/>
          <p:nvPr/>
        </p:nvSpPr>
        <p:spPr>
          <a:xfrm>
            <a:off x="8503920" y="5074920"/>
            <a:ext cx="2834640" cy="731520"/>
          </a:xfrm>
          <a:prstGeom prst="rect">
            <a:avLst/>
          </a:prstGeom>
          <a:noFill/>
        </p:spPr>
        <p:txBody>
          <a:bodyPr wrap="square" anchor="t">
            <a:spAutoFit/>
          </a:bodyPr>
          <a:lstStyle/>
          <a:p>
            <a:pPr algn="l">
              <a:lnSpc>
                <a:spcPct val="112000"/>
              </a:lnSpc>
            </a:pPr>
            <a:r>
              <a:rPr sz="1350" b="0" i="0">
                <a:solidFill>
                  <a:srgbClr val="2B2B26"/>
                </a:solidFill>
                <a:latin typeface="Verdana"/>
              </a:rPr>
              <a:t>Life insurance through Premier Financial Alliance and National Life Group.</a:t>
            </a:r>
          </a:p>
        </p:txBody>
      </p:sp>
      <p:sp>
        <p:nvSpPr>
          <p:cNvPr id="11" name="TextBox 10"/>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3E4A2E"/>
        </a:solidFill>
        <a:effectLst/>
      </p:bgPr>
    </p:bg>
    <p:spTree>
      <p:nvGrpSpPr>
        <p:cNvPr id="1" name=""/>
        <p:cNvGrpSpPr/>
        <p:nvPr/>
      </p:nvGrpSpPr>
      <p:grpSpPr/>
      <p:sp>
        <p:nvSpPr>
          <p:cNvPr id="2" name="TextBox 1"/>
          <p:cNvSpPr txBox="1"/>
          <p:nvPr/>
        </p:nvSpPr>
        <p:spPr>
          <a:xfrm>
            <a:off x="731520" y="2011680"/>
            <a:ext cx="10698480" cy="1097280"/>
          </a:xfrm>
          <a:prstGeom prst="rect">
            <a:avLst/>
          </a:prstGeom>
          <a:noFill/>
        </p:spPr>
        <p:txBody>
          <a:bodyPr wrap="square" anchor="t">
            <a:spAutoFit/>
          </a:bodyPr>
          <a:lstStyle/>
          <a:p>
            <a:pPr algn="ctr">
              <a:lnSpc>
                <a:spcPct val="112000"/>
              </a:lnSpc>
            </a:pPr>
            <a:r>
              <a:rPr sz="4800" b="1" i="0">
                <a:solidFill>
                  <a:srgbClr val="FFFFFF"/>
                </a:solidFill>
                <a:latin typeface="Georgia"/>
              </a:rPr>
              <a:t>Thank You</a:t>
            </a:r>
          </a:p>
        </p:txBody>
      </p:sp>
      <p:sp>
        <p:nvSpPr>
          <p:cNvPr id="3" name="TextBox 2"/>
          <p:cNvSpPr txBox="1"/>
          <p:nvPr/>
        </p:nvSpPr>
        <p:spPr>
          <a:xfrm>
            <a:off x="731520" y="3291840"/>
            <a:ext cx="10698480" cy="548640"/>
          </a:xfrm>
          <a:prstGeom prst="rect">
            <a:avLst/>
          </a:prstGeom>
          <a:noFill/>
        </p:spPr>
        <p:txBody>
          <a:bodyPr wrap="square" anchor="t">
            <a:spAutoFit/>
          </a:bodyPr>
          <a:lstStyle/>
          <a:p>
            <a:pPr algn="ctr">
              <a:lnSpc>
                <a:spcPct val="112000"/>
              </a:lnSpc>
            </a:pPr>
            <a:r>
              <a:rPr sz="2200" b="0" i="0">
                <a:solidFill>
                  <a:srgbClr val="E9DFC8"/>
                </a:solidFill>
                <a:latin typeface="Verdana"/>
              </a:rPr>
              <a:t>Questions? Ask away — that is what tonight is for.</a:t>
            </a:r>
          </a:p>
        </p:txBody>
      </p:sp>
      <p:sp>
        <p:nvSpPr>
          <p:cNvPr id="4" name="TextBox 3"/>
          <p:cNvSpPr txBox="1"/>
          <p:nvPr/>
        </p:nvSpPr>
        <p:spPr>
          <a:xfrm>
            <a:off x="731520" y="4114800"/>
            <a:ext cx="10698480" cy="548640"/>
          </a:xfrm>
          <a:prstGeom prst="rect">
            <a:avLst/>
          </a:prstGeom>
          <a:noFill/>
        </p:spPr>
        <p:txBody>
          <a:bodyPr wrap="square" anchor="t">
            <a:spAutoFit/>
          </a:bodyPr>
          <a:lstStyle/>
          <a:p>
            <a:pPr algn="ctr">
              <a:lnSpc>
                <a:spcPct val="112000"/>
              </a:lnSpc>
            </a:pPr>
            <a:r>
              <a:rPr sz="1900" b="0" i="0">
                <a:solidFill>
                  <a:srgbClr val="FFFFFF"/>
                </a:solidFill>
                <a:latin typeface="Verdana"/>
              </a:rPr>
              <a:t>southernoakfw@gmail.com  •  southernoakfw.org</a:t>
            </a:r>
          </a:p>
        </p:txBody>
      </p:sp>
      <p:sp>
        <p:nvSpPr>
          <p:cNvPr id="5" name="TextBox 4"/>
          <p:cNvSpPr txBox="1"/>
          <p:nvPr/>
        </p:nvSpPr>
        <p:spPr>
          <a:xfrm>
            <a:off x="731520" y="4846320"/>
            <a:ext cx="10698480" cy="457200"/>
          </a:xfrm>
          <a:prstGeom prst="rect">
            <a:avLst/>
          </a:prstGeom>
          <a:noFill/>
        </p:spPr>
        <p:txBody>
          <a:bodyPr wrap="square" anchor="t">
            <a:spAutoFit/>
          </a:bodyPr>
          <a:lstStyle/>
          <a:p>
            <a:pPr algn="ctr">
              <a:lnSpc>
                <a:spcPct val="112000"/>
              </a:lnSpc>
            </a:pPr>
            <a:r>
              <a:rPr sz="1650" b="0" i="0">
                <a:solidFill>
                  <a:srgbClr val="E9DFC8"/>
                </a:solidFill>
                <a:latin typeface="Verdana"/>
              </a:rPr>
              <a:t>Next free webinar: Friday, December 11 — “Turning 18: What 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